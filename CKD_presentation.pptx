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81" r:id="rId3"/>
    <p:sldId id="257" r:id="rId4"/>
    <p:sldId id="265" r:id="rId5"/>
    <p:sldId id="285" r:id="rId6"/>
    <p:sldId id="266" r:id="rId7"/>
    <p:sldId id="274" r:id="rId8"/>
    <p:sldId id="293" r:id="rId9"/>
    <p:sldId id="294" r:id="rId10"/>
    <p:sldId id="295" r:id="rId11"/>
    <p:sldId id="267" r:id="rId12"/>
    <p:sldId id="278" r:id="rId13"/>
    <p:sldId id="279" r:id="rId14"/>
    <p:sldId id="292" r:id="rId15"/>
    <p:sldId id="280" r:id="rId16"/>
    <p:sldId id="269" r:id="rId17"/>
    <p:sldId id="272" r:id="rId18"/>
    <p:sldId id="282" r:id="rId19"/>
    <p:sldId id="276" r:id="rId20"/>
    <p:sldId id="277" r:id="rId21"/>
    <p:sldId id="288" r:id="rId22"/>
    <p:sldId id="297" r:id="rId23"/>
    <p:sldId id="298" r:id="rId24"/>
    <p:sldId id="299" r:id="rId25"/>
    <p:sldId id="260" r:id="rId26"/>
    <p:sldId id="273" r:id="rId27"/>
    <p:sldId id="263" r:id="rId28"/>
    <p:sldId id="287"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810" y="-389"/>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61393867-C55A-4975-AC9D-90F869881D3C}" type="datetimeFigureOut">
              <a:rPr lang="en-US" smtClean="0"/>
              <a:pPr/>
              <a:t>8/9/2021</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EB2881B3-06A8-4604-BFEE-AC468500124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1393867-C55A-4975-AC9D-90F869881D3C}" type="datetimeFigureOut">
              <a:rPr lang="en-US" smtClean="0"/>
              <a:pPr/>
              <a:t>8/9/2021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881B3-06A8-4604-BFEE-AC468500124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1393867-C55A-4975-AC9D-90F869881D3C}" type="datetimeFigureOut">
              <a:rPr lang="en-US" smtClean="0"/>
              <a:pPr/>
              <a:t>8/9/2021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881B3-06A8-4604-BFEE-AC468500124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1393867-C55A-4975-AC9D-90F869881D3C}" type="datetimeFigureOut">
              <a:rPr lang="en-US" smtClean="0"/>
              <a:pPr/>
              <a:t>8/9/2021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2881B3-06A8-4604-BFEE-AC468500124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61393867-C55A-4975-AC9D-90F869881D3C}" type="datetimeFigureOut">
              <a:rPr lang="en-US" smtClean="0"/>
              <a:pPr/>
              <a:t>8/9/2021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2881B3-06A8-4604-BFEE-AC468500124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1393867-C55A-4975-AC9D-90F869881D3C}" type="datetimeFigureOut">
              <a:rPr lang="en-US" smtClean="0"/>
              <a:pPr/>
              <a:t>8/9/2021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2881B3-06A8-4604-BFEE-AC468500124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393867-C55A-4975-AC9D-90F869881D3C}" type="datetimeFigureOut">
              <a:rPr lang="en-US" smtClean="0"/>
              <a:pPr/>
              <a:t>8/9/2021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2881B3-06A8-4604-BFEE-AC468500124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1393867-C55A-4975-AC9D-90F869881D3C}" type="datetimeFigureOut">
              <a:rPr lang="en-US" smtClean="0"/>
              <a:pPr/>
              <a:t>8/9/2021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2881B3-06A8-4604-BFEE-AC468500124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1393867-C55A-4975-AC9D-90F869881D3C}" type="datetimeFigureOut">
              <a:rPr lang="en-US" smtClean="0"/>
              <a:pPr/>
              <a:t>8/9/2021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EB2881B3-06A8-4604-BFEE-AC4685001247}"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1393867-C55A-4975-AC9D-90F869881D3C}" type="datetimeFigureOut">
              <a:rPr lang="en-US" smtClean="0"/>
              <a:pPr/>
              <a:t>8/9/2021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881B3-06A8-4604-BFEE-AC468500124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1393867-C55A-4975-AC9D-90F869881D3C}" type="datetimeFigureOut">
              <a:rPr lang="en-US" smtClean="0"/>
              <a:pPr/>
              <a:t>8/9/2021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881B3-06A8-4604-BFEE-AC468500124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61393867-C55A-4975-AC9D-90F869881D3C}" type="datetimeFigureOut">
              <a:rPr lang="en-US" smtClean="0"/>
              <a:pPr/>
              <a:t>8/9/2021</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B2881B3-06A8-4604-BFEE-AC4685001247}"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057400"/>
            <a:ext cx="8153400" cy="2057400"/>
          </a:xfrm>
        </p:spPr>
        <p:txBody>
          <a:bodyPr>
            <a:normAutofit fontScale="90000"/>
          </a:bodyPr>
          <a:lstStyle/>
          <a:p>
            <a:pPr algn="ctr"/>
            <a:r>
              <a:rPr lang="en-US" dirty="0">
                <a:solidFill>
                  <a:schemeClr val="tx1"/>
                </a:solidFill>
                <a:latin typeface="Times New Roman" pitchFamily="18" charset="0"/>
                <a:cs typeface="Times New Roman" pitchFamily="18" charset="0"/>
              </a:rPr>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PREDICTION OF CHRONIC KIDNEY DISEASE</a:t>
            </a:r>
          </a:p>
        </p:txBody>
      </p:sp>
      <p:sp>
        <p:nvSpPr>
          <p:cNvPr id="3" name="Subtitle 2"/>
          <p:cNvSpPr>
            <a:spLocks noGrp="1"/>
          </p:cNvSpPr>
          <p:nvPr>
            <p:ph type="subTitle" idx="1"/>
          </p:nvPr>
        </p:nvSpPr>
        <p:spPr>
          <a:xfrm>
            <a:off x="609600" y="4267200"/>
            <a:ext cx="8305800" cy="1600200"/>
          </a:xfrm>
        </p:spPr>
        <p:txBody>
          <a:bodyPr>
            <a:noAutofit/>
          </a:bodyPr>
          <a:lstStyle/>
          <a:p>
            <a:pPr algn="r"/>
            <a:r>
              <a:rPr lang="en-US" sz="1800" dirty="0">
                <a:solidFill>
                  <a:schemeClr val="tx1"/>
                </a:solidFill>
                <a:latin typeface="Times New Roman" pitchFamily="18" charset="0"/>
                <a:cs typeface="Times New Roman" pitchFamily="18" charset="0"/>
              </a:rPr>
              <a:t>Submitted by:</a:t>
            </a:r>
          </a:p>
          <a:p>
            <a:r>
              <a:rPr lang="en-US" sz="1800" b="1" dirty="0" smtClean="0">
                <a:latin typeface="Times New Roman" pitchFamily="18" charset="0"/>
                <a:cs typeface="Times New Roman" pitchFamily="18" charset="0"/>
              </a:rPr>
              <a:t> M. </a:t>
            </a:r>
            <a:r>
              <a:rPr lang="en-US" sz="1800" b="1" dirty="0" err="1" smtClean="0">
                <a:latin typeface="Times New Roman" pitchFamily="18" charset="0"/>
                <a:cs typeface="Times New Roman" pitchFamily="18" charset="0"/>
              </a:rPr>
              <a:t>Sai</a:t>
            </a:r>
            <a:r>
              <a:rPr lang="en-US" sz="1800" b="1" dirty="0" smtClean="0">
                <a:latin typeface="Times New Roman" pitchFamily="18" charset="0"/>
                <a:cs typeface="Times New Roman" pitchFamily="18" charset="0"/>
              </a:rPr>
              <a:t> Kumar                      (18471A0530) </a:t>
            </a:r>
          </a:p>
          <a:p>
            <a:r>
              <a:rPr lang="en-US" sz="1800" b="1" dirty="0" smtClean="0">
                <a:latin typeface="Times New Roman" pitchFamily="18" charset="0"/>
                <a:cs typeface="Times New Roman" pitchFamily="18" charset="0"/>
              </a:rPr>
              <a:t>N. Rajesh                              (18471A0535) </a:t>
            </a:r>
          </a:p>
          <a:p>
            <a:r>
              <a:rPr lang="en-US" sz="1800" b="1" dirty="0" smtClean="0">
                <a:latin typeface="Times New Roman" pitchFamily="18" charset="0"/>
                <a:cs typeface="Times New Roman" pitchFamily="18" charset="0"/>
              </a:rPr>
              <a:t>P. John </a:t>
            </a:r>
            <a:r>
              <a:rPr lang="en-US" sz="1800" b="1" dirty="0" err="1" smtClean="0">
                <a:latin typeface="Times New Roman" pitchFamily="18" charset="0"/>
                <a:cs typeface="Times New Roman" pitchFamily="18" charset="0"/>
              </a:rPr>
              <a:t>Subhani</a:t>
            </a:r>
            <a:r>
              <a:rPr lang="en-US" sz="1800" b="1" dirty="0" smtClean="0">
                <a:latin typeface="Times New Roman" pitchFamily="18" charset="0"/>
                <a:cs typeface="Times New Roman" pitchFamily="18" charset="0"/>
              </a:rPr>
              <a:t>                   (18471A0542)</a:t>
            </a:r>
          </a:p>
          <a:p>
            <a:r>
              <a:rPr lang="en-US" sz="1800" b="1" dirty="0" smtClean="0">
                <a:latin typeface="Times New Roman" pitchFamily="18" charset="0"/>
                <a:cs typeface="Times New Roman" pitchFamily="18" charset="0"/>
              </a:rPr>
              <a:t>K. S.V. S. Chandra Prasad (18471A0521)</a:t>
            </a:r>
            <a:endParaRPr lang="en-US" sz="1800" b="1" dirty="0">
              <a:latin typeface="Times New Roman" pitchFamily="18" charset="0"/>
              <a:cs typeface="Times New Roman" pitchFamily="18" charset="0"/>
            </a:endParaRPr>
          </a:p>
        </p:txBody>
      </p:sp>
      <p:sp>
        <p:nvSpPr>
          <p:cNvPr id="4" name="TextBox 3"/>
          <p:cNvSpPr txBox="1"/>
          <p:nvPr/>
        </p:nvSpPr>
        <p:spPr>
          <a:xfrm>
            <a:off x="609600" y="4343400"/>
            <a:ext cx="4038600" cy="923330"/>
          </a:xfrm>
          <a:prstGeom prst="rect">
            <a:avLst/>
          </a:prstGeom>
          <a:noFill/>
        </p:spPr>
        <p:txBody>
          <a:bodyPr wrap="square" rtlCol="0">
            <a:spAutoFit/>
          </a:bodyPr>
          <a:lstStyle/>
          <a:p>
            <a:r>
              <a:rPr lang="en-US" dirty="0">
                <a:latin typeface="Times New Roman" pitchFamily="18" charset="0"/>
                <a:cs typeface="Times New Roman" pitchFamily="18" charset="0"/>
              </a:rPr>
              <a:t>Under the esteemed guidance of</a:t>
            </a:r>
            <a:r>
              <a:rPr lang="en-US" dirty="0" smtClean="0">
                <a:latin typeface="Times New Roman" pitchFamily="18" charset="0"/>
                <a:cs typeface="Times New Roman" pitchFamily="18" charset="0"/>
              </a:rPr>
              <a:t>:</a:t>
            </a:r>
          </a:p>
          <a:p>
            <a:r>
              <a:rPr lang="en-US" dirty="0" smtClean="0"/>
              <a:t>Dr. S. N. </a:t>
            </a:r>
            <a:r>
              <a:rPr lang="en-US" dirty="0" err="1" smtClean="0"/>
              <a:t>Tirumala</a:t>
            </a:r>
            <a:r>
              <a:rPr lang="en-US" dirty="0" smtClean="0"/>
              <a:t> </a:t>
            </a:r>
            <a:r>
              <a:rPr lang="en-US" dirty="0" err="1" smtClean="0"/>
              <a:t>Rao</a:t>
            </a:r>
            <a:r>
              <a:rPr lang="en-US" dirty="0" smtClean="0"/>
              <a:t>,  </a:t>
            </a:r>
            <a:r>
              <a:rPr lang="en-US" dirty="0" err="1" smtClean="0"/>
              <a:t>M.Tech</a:t>
            </a:r>
            <a:r>
              <a:rPr lang="en-US" dirty="0" smtClean="0"/>
              <a:t>., </a:t>
            </a:r>
            <a:r>
              <a:rPr lang="en-US" dirty="0" err="1" smtClean="0"/>
              <a:t>Ph.D</a:t>
            </a:r>
            <a:r>
              <a:rPr lang="en-US" dirty="0" smtClean="0"/>
              <a:t> </a:t>
            </a:r>
          </a:p>
          <a:p>
            <a:r>
              <a:rPr lang="en-US" dirty="0" smtClean="0"/>
              <a:t>       Professor &amp; </a:t>
            </a:r>
            <a:r>
              <a:rPr lang="en-US" dirty="0" err="1" smtClean="0"/>
              <a:t>HoD</a:t>
            </a:r>
            <a:r>
              <a:rPr lang="en-US" b="1" dirty="0" smtClean="0"/>
              <a:t>.</a:t>
            </a:r>
            <a:endParaRPr lang="en-US" dirty="0"/>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xmlns="" val="0"/>
              </a:ext>
            </a:extLst>
          </a:blip>
          <a:srcRect l="14354" t="4791" r="13872" b="9297"/>
          <a:stretch/>
        </p:blipFill>
        <p:spPr>
          <a:xfrm>
            <a:off x="304800" y="76199"/>
            <a:ext cx="1524000" cy="1447801"/>
          </a:xfrm>
          <a:prstGeom prst="rect">
            <a:avLst/>
          </a:prstGeom>
        </p:spPr>
      </p:pic>
      <p:sp>
        <p:nvSpPr>
          <p:cNvPr id="6" name="TextBox 5"/>
          <p:cNvSpPr txBox="1"/>
          <p:nvPr/>
        </p:nvSpPr>
        <p:spPr>
          <a:xfrm>
            <a:off x="2133600" y="533400"/>
            <a:ext cx="7162800" cy="461665"/>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NARASARAOPETA ENGINEERING COLLEGE</a:t>
            </a:r>
            <a:endParaRPr lang="en-IN" sz="2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8229600" cy="1143000"/>
          </a:xfrm>
        </p:spPr>
        <p:txBody>
          <a:bodyPr/>
          <a:lstStyle/>
          <a:p>
            <a:r>
              <a:rPr lang="en-IN" dirty="0" smtClean="0">
                <a:latin typeface="Times New Roman" panose="02020603050405020304" pitchFamily="18" charset="0"/>
                <a:cs typeface="Times New Roman" panose="02020603050405020304" pitchFamily="18" charset="0"/>
              </a:rPr>
              <a:t>Contents: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66800" y="1676400"/>
            <a:ext cx="6591985" cy="4234822"/>
          </a:xfrm>
        </p:spPr>
        <p:txBody>
          <a:bodyPr>
            <a:normAutofit fontScale="92500" lnSpcReduction="20000"/>
          </a:bodyPr>
          <a:lstStyle/>
          <a:p>
            <a:r>
              <a:rPr lang="en-IN" dirty="0" smtClean="0">
                <a:latin typeface="Times New Roman" panose="02020603050405020304" pitchFamily="18" charset="0"/>
                <a:cs typeface="Times New Roman" panose="02020603050405020304" pitchFamily="18" charset="0"/>
              </a:rPr>
              <a:t>Abstract</a:t>
            </a:r>
          </a:p>
          <a:p>
            <a:r>
              <a:rPr lang="en-IN" dirty="0" smtClean="0">
                <a:latin typeface="Times New Roman" panose="02020603050405020304" pitchFamily="18" charset="0"/>
                <a:cs typeface="Times New Roman" panose="02020603050405020304" pitchFamily="18" charset="0"/>
              </a:rPr>
              <a:t>Introduction</a:t>
            </a:r>
          </a:p>
          <a:p>
            <a:r>
              <a:rPr lang="en-IN" dirty="0" smtClean="0">
                <a:latin typeface="Times New Roman" panose="02020603050405020304" pitchFamily="18" charset="0"/>
                <a:cs typeface="Times New Roman" panose="02020603050405020304" pitchFamily="18" charset="0"/>
              </a:rPr>
              <a:t>Dataset </a:t>
            </a:r>
          </a:p>
          <a:p>
            <a:r>
              <a:rPr lang="en-IN" dirty="0" smtClean="0">
                <a:latin typeface="Times New Roman" panose="02020603050405020304" pitchFamily="18" charset="0"/>
                <a:cs typeface="Times New Roman" panose="02020603050405020304" pitchFamily="18" charset="0"/>
              </a:rPr>
              <a:t>Disease Model</a:t>
            </a:r>
          </a:p>
          <a:p>
            <a:r>
              <a:rPr lang="en-IN" dirty="0" smtClean="0">
                <a:latin typeface="Times New Roman" panose="02020603050405020304" pitchFamily="18" charset="0"/>
                <a:cs typeface="Times New Roman" panose="02020603050405020304" pitchFamily="18" charset="0"/>
              </a:rPr>
              <a:t>Algorithm used</a:t>
            </a:r>
          </a:p>
          <a:p>
            <a:r>
              <a:rPr lang="en-IN" dirty="0" smtClean="0">
                <a:latin typeface="Times New Roman" panose="02020603050405020304" pitchFamily="18" charset="0"/>
                <a:cs typeface="Times New Roman" panose="02020603050405020304" pitchFamily="18" charset="0"/>
              </a:rPr>
              <a:t>Comparison of algorithms used</a:t>
            </a:r>
          </a:p>
          <a:p>
            <a:r>
              <a:rPr lang="en-IN" dirty="0" smtClean="0">
                <a:latin typeface="Times New Roman" panose="02020603050405020304" pitchFamily="18" charset="0"/>
                <a:cs typeface="Times New Roman" panose="02020603050405020304" pitchFamily="18" charset="0"/>
              </a:rPr>
              <a:t>Algorithm Description</a:t>
            </a:r>
          </a:p>
          <a:p>
            <a:r>
              <a:rPr lang="en-IN" dirty="0" smtClean="0">
                <a:latin typeface="Times New Roman" panose="02020603050405020304" pitchFamily="18" charset="0"/>
                <a:cs typeface="Times New Roman" panose="02020603050405020304" pitchFamily="18" charset="0"/>
              </a:rPr>
              <a:t>Working of best algorithm chosen</a:t>
            </a:r>
          </a:p>
          <a:p>
            <a:r>
              <a:rPr lang="en-IN" dirty="0" smtClean="0">
                <a:latin typeface="Times New Roman" panose="02020603050405020304" pitchFamily="18" charset="0"/>
                <a:cs typeface="Times New Roman" panose="02020603050405020304" pitchFamily="18" charset="0"/>
              </a:rPr>
              <a:t>Output screen</a:t>
            </a:r>
          </a:p>
          <a:p>
            <a:r>
              <a:rPr lang="en-IN" dirty="0" smtClean="0">
                <a:latin typeface="Times New Roman" panose="02020603050405020304" pitchFamily="18" charset="0"/>
                <a:cs typeface="Times New Roman" panose="02020603050405020304" pitchFamily="18" charset="0"/>
              </a:rPr>
              <a:t>Future scope</a:t>
            </a:r>
          </a:p>
          <a:p>
            <a:r>
              <a:rPr lang="en-IN" dirty="0" smtClean="0">
                <a:latin typeface="Times New Roman" panose="02020603050405020304" pitchFamily="18" charset="0"/>
                <a:cs typeface="Times New Roman" panose="02020603050405020304" pitchFamily="18" charset="0"/>
              </a:rPr>
              <a:t>References</a:t>
            </a:r>
          </a:p>
          <a:p>
            <a:endParaRPr lang="en-IN"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itchFamily="18" charset="0"/>
              </a:rPr>
              <a:t>Abstract</a:t>
            </a:r>
          </a:p>
        </p:txBody>
      </p:sp>
      <p:sp>
        <p:nvSpPr>
          <p:cNvPr id="3" name="Content Placeholder 2"/>
          <p:cNvSpPr>
            <a:spLocks noGrp="1"/>
          </p:cNvSpPr>
          <p:nvPr>
            <p:ph idx="1"/>
          </p:nvPr>
        </p:nvSpPr>
        <p:spPr/>
        <p:txBody>
          <a:bodyPr>
            <a:normAutofit fontScale="85000" lnSpcReduction="10000"/>
          </a:bodyPr>
          <a:lstStyle/>
          <a:p>
            <a:pPr algn="just"/>
            <a:r>
              <a:rPr lang="en-US" dirty="0">
                <a:latin typeface="Times New Roman" panose="02020603050405020304" pitchFamily="18" charset="0"/>
                <a:cs typeface="Times New Roman" panose="02020603050405020304" pitchFamily="18" charset="0"/>
              </a:rPr>
              <a:t>This </a:t>
            </a:r>
            <a:r>
              <a:rPr lang="en-US" dirty="0" smtClean="0">
                <a:latin typeface="Times New Roman" panose="02020603050405020304" pitchFamily="18" charset="0"/>
                <a:cs typeface="Times New Roman" panose="02020603050405020304" pitchFamily="18" charset="0"/>
              </a:rPr>
              <a:t>Project </a:t>
            </a:r>
            <a:r>
              <a:rPr lang="en-US" dirty="0">
                <a:latin typeface="Times New Roman" panose="02020603050405020304" pitchFamily="18" charset="0"/>
                <a:cs typeface="Times New Roman" panose="02020603050405020304" pitchFamily="18" charset="0"/>
              </a:rPr>
              <a:t>proposes supervised machine learning technique to identify </a:t>
            </a:r>
            <a:r>
              <a:rPr lang="en-US" dirty="0" smtClean="0">
                <a:latin typeface="Times New Roman" panose="02020603050405020304" pitchFamily="18" charset="0"/>
                <a:cs typeface="Times New Roman" panose="02020603050405020304" pitchFamily="18" charset="0"/>
              </a:rPr>
              <a:t>the presence of chronic kidney disease in humans.</a:t>
            </a:r>
            <a:endParaRPr lang="en-US" dirty="0">
              <a:latin typeface="Times New Roman" panose="02020603050405020304" pitchFamily="18" charset="0"/>
              <a:cs typeface="Times New Roman" panose="02020603050405020304" pitchFamily="18" charset="0"/>
            </a:endParaRPr>
          </a:p>
          <a:p>
            <a:pPr algn="just"/>
            <a:r>
              <a:rPr lang="en-US" dirty="0" smtClean="0"/>
              <a:t>This work proposes a workflow to predict CKD status based on clinical data, incorporating data prepossessing, a missing value handling method with collaborative filtering and attributes selection.</a:t>
            </a:r>
          </a:p>
          <a:p>
            <a:pPr algn="just"/>
            <a:r>
              <a:rPr lang="en-US" dirty="0" smtClean="0"/>
              <a:t> Out of the 11 machine learning methods considered, the extra tree classifier and random forest classifier are shown to result in the highest accuracy and minimal bias to the attributes.</a:t>
            </a:r>
          </a:p>
          <a:p>
            <a:pPr algn="just"/>
            <a:r>
              <a:rPr lang="en-US" dirty="0" smtClean="0"/>
              <a:t> This also considers the practical aspects of data collection and highlights the importance of incorporating domain knowledge when using machine learning for CKD prediction. </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fontScale="92500"/>
          </a:bodyPr>
          <a:lstStyle/>
          <a:p>
            <a:pPr algn="just"/>
            <a:r>
              <a:rPr lang="en-US" dirty="0" smtClean="0"/>
              <a:t>Chronic Kidney Disease (CKD) or chronic renal disease has become a major issue with a steady growth rate. A person can only survive without kidneys for an average time of 18 days, which makes a huge demand for a kidney transplant and Dialysis. </a:t>
            </a:r>
          </a:p>
          <a:p>
            <a:pPr algn="just"/>
            <a:r>
              <a:rPr lang="en-US" dirty="0" smtClean="0"/>
              <a:t>It is important to have effective methods for early prediction of CKD.</a:t>
            </a:r>
          </a:p>
          <a:p>
            <a:pPr algn="just"/>
            <a:r>
              <a:rPr lang="en-US" dirty="0" smtClean="0"/>
              <a:t> </a:t>
            </a:r>
            <a:r>
              <a:rPr lang="en-US" dirty="0" smtClean="0">
                <a:latin typeface="Times New Roman" panose="02020603050405020304" pitchFamily="18" charset="0"/>
                <a:cs typeface="Times New Roman" panose="02020603050405020304" pitchFamily="18" charset="0"/>
              </a:rPr>
              <a:t>There </a:t>
            </a:r>
            <a:r>
              <a:rPr lang="en-US" dirty="0">
                <a:latin typeface="Times New Roman" panose="02020603050405020304" pitchFamily="18" charset="0"/>
                <a:cs typeface="Times New Roman" panose="02020603050405020304" pitchFamily="18" charset="0"/>
              </a:rPr>
              <a:t>are no predictive instruments that are commonly accepted for CKD.</a:t>
            </a:r>
          </a:p>
          <a:p>
            <a:pPr algn="just"/>
            <a:r>
              <a:rPr lang="en-US" dirty="0">
                <a:latin typeface="Times New Roman" panose="02020603050405020304" pitchFamily="18" charset="0"/>
                <a:cs typeface="Times New Roman" panose="02020603050405020304" pitchFamily="18" charset="0"/>
              </a:rPr>
              <a:t>This lack of a common predictive instrument is becoming a bigger issue as the amount of CKD patients continues to grow.</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latin typeface="Times New Roman" panose="02020603050405020304" pitchFamily="18" charset="0"/>
                <a:cs typeface="Times New Roman" panose="02020603050405020304" pitchFamily="18" charset="0"/>
              </a:rPr>
              <a:t>Increased growth of Chronic Kidney Disease</a:t>
            </a:r>
            <a:endParaRPr lang="en-US" dirty="0">
              <a:latin typeface="Times New Roman" panose="02020603050405020304" pitchFamily="18" charset="0"/>
              <a:cs typeface="Times New Roman" panose="02020603050405020304" pitchFamily="18" charset="0"/>
            </a:endParaRPr>
          </a:p>
        </p:txBody>
      </p:sp>
      <p:pic>
        <p:nvPicPr>
          <p:cNvPr id="4" name="Content Placeholder 3" descr="chart-prevalence-of-ckd-stages-1-4-by-year_original.png"/>
          <p:cNvPicPr>
            <a:picLocks noGrp="1"/>
          </p:cNvPicPr>
          <p:nvPr>
            <p:ph idx="1"/>
          </p:nvPr>
        </p:nvPicPr>
        <p:blipFill>
          <a:blip r:embed="rId2" cstate="print"/>
          <a:stretch>
            <a:fillRect/>
          </a:stretch>
        </p:blipFill>
        <p:spPr>
          <a:xfrm>
            <a:off x="914400" y="1905000"/>
            <a:ext cx="7239000" cy="4572000"/>
          </a:xfrm>
          <a:prstGeom prst="rect">
            <a:avLst/>
          </a:prstGeom>
          <a:ln>
            <a:solidFill>
              <a:schemeClr val="tx1"/>
            </a:solid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pPr algn="ctr"/>
            <a:r>
              <a:rPr lang="en-US" dirty="0">
                <a:latin typeface="Times New Roman" panose="02020603050405020304" pitchFamily="18" charset="0"/>
                <a:cs typeface="Times New Roman" panose="02020603050405020304" pitchFamily="18" charset="0"/>
              </a:rPr>
              <a:t>Introduction(</a:t>
            </a:r>
            <a:r>
              <a:rPr lang="en-US" dirty="0" err="1">
                <a:latin typeface="Times New Roman" panose="02020603050405020304" pitchFamily="18" charset="0"/>
                <a:cs typeface="Times New Roman" panose="02020603050405020304" pitchFamily="18" charset="0"/>
              </a:rPr>
              <a:t>Contd</a:t>
            </a:r>
            <a:r>
              <a:rPr lang="en-US"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a:xfrm>
            <a:off x="914400" y="2133599"/>
            <a:ext cx="7772400" cy="2819401"/>
          </a:xfrm>
        </p:spPr>
        <p:txBody>
          <a:bodyPr/>
          <a:lstStyle/>
          <a:p>
            <a:pPr algn="just"/>
            <a:r>
              <a:rPr lang="en-US" dirty="0">
                <a:latin typeface="Times New Roman" panose="02020603050405020304" pitchFamily="18" charset="0"/>
                <a:cs typeface="Times New Roman" panose="02020603050405020304" pitchFamily="18" charset="0"/>
              </a:rPr>
              <a:t>To address the challenge,this model is able to identify presence of kidney disease or not based on factors like age, gender etc.</a:t>
            </a:r>
          </a:p>
          <a:p>
            <a:pPr algn="just"/>
            <a:r>
              <a:rPr lang="en-US" dirty="0">
                <a:latin typeface="Times New Roman" panose="02020603050405020304" pitchFamily="18" charset="0"/>
                <a:cs typeface="Times New Roman" panose="02020603050405020304" pitchFamily="18" charset="0"/>
              </a:rPr>
              <a:t>In this </a:t>
            </a:r>
            <a:r>
              <a:rPr lang="en-US" dirty="0" smtClean="0">
                <a:latin typeface="Times New Roman" panose="02020603050405020304" pitchFamily="18" charset="0"/>
                <a:cs typeface="Times New Roman" panose="02020603050405020304" pitchFamily="18" charset="0"/>
              </a:rPr>
              <a:t>project, </a:t>
            </a:r>
            <a:r>
              <a:rPr lang="en-US" dirty="0">
                <a:latin typeface="Times New Roman" panose="02020603050405020304" pitchFamily="18" charset="0"/>
                <a:cs typeface="Times New Roman" panose="02020603050405020304" pitchFamily="18" charset="0"/>
              </a:rPr>
              <a:t>we will develop predictive analytics model </a:t>
            </a:r>
            <a:r>
              <a:rPr lang="en-US" dirty="0" smtClean="0">
                <a:latin typeface="Times New Roman" panose="02020603050405020304" pitchFamily="18" charset="0"/>
                <a:cs typeface="Times New Roman" panose="02020603050405020304" pitchFamily="18" charset="0"/>
              </a:rPr>
              <a:t>using Random Forest Classifier algorithm </a:t>
            </a:r>
            <a:r>
              <a:rPr lang="en-US" dirty="0">
                <a:latin typeface="Times New Roman" panose="02020603050405020304" pitchFamily="18" charset="0"/>
                <a:cs typeface="Times New Roman" panose="02020603050405020304" pitchFamily="18" charset="0"/>
              </a:rPr>
              <a:t>for </a:t>
            </a:r>
            <a:r>
              <a:rPr lang="en-US" dirty="0" smtClean="0">
                <a:latin typeface="Times New Roman" panose="02020603050405020304" pitchFamily="18" charset="0"/>
                <a:cs typeface="Times New Roman" panose="02020603050405020304" pitchFamily="18" charset="0"/>
              </a:rPr>
              <a:t>CKD prediction.</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09600"/>
            <a:ext cx="6589199" cy="1277203"/>
          </a:xfrm>
        </p:spPr>
        <p:txBody>
          <a:bodyPr/>
          <a:lstStyle/>
          <a:p>
            <a:pPr algn="ctr"/>
            <a:r>
              <a:rPr lang="en-US" dirty="0" smtClean="0">
                <a:latin typeface="Times New Roman" panose="02020603050405020304" pitchFamily="18" charset="0"/>
                <a:cs typeface="Times New Roman" panose="02020603050405020304" pitchFamily="18" charset="0"/>
              </a:rPr>
              <a:t>DATASET</a:t>
            </a:r>
            <a:endParaRPr lang="en-US" dirty="0">
              <a:latin typeface="Times New Roman" panose="02020603050405020304" pitchFamily="18" charset="0"/>
              <a:cs typeface="Times New Roman" panose="02020603050405020304" pitchFamily="18" charset="0"/>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xmlns="" val="2972703675"/>
              </p:ext>
            </p:extLst>
          </p:nvPr>
        </p:nvGraphicFramePr>
        <p:xfrm>
          <a:off x="685800" y="1828800"/>
          <a:ext cx="7620000" cy="3561606"/>
        </p:xfrm>
        <a:graphic>
          <a:graphicData uri="http://schemas.openxmlformats.org/drawingml/2006/table">
            <a:tbl>
              <a:tblPr firstRow="1" firstCol="1" bandRow="1">
                <a:tableStyleId>{2D5ABB26-0587-4C30-8999-92F81FD0307C}</a:tableStyleId>
              </a:tblPr>
              <a:tblGrid>
                <a:gridCol w="1827715"/>
                <a:gridCol w="4631782"/>
                <a:gridCol w="1160503"/>
              </a:tblGrid>
              <a:tr h="230488">
                <a:tc>
                  <a:txBody>
                    <a:bodyPr/>
                    <a:lstStyle/>
                    <a:p>
                      <a:pPr>
                        <a:lnSpc>
                          <a:spcPct val="107000"/>
                        </a:lnSpc>
                        <a:spcAft>
                          <a:spcPts val="0"/>
                        </a:spcAft>
                      </a:pPr>
                      <a:r>
                        <a:rPr lang="en-IN" sz="1600" b="1" dirty="0">
                          <a:effectLst/>
                          <a:latin typeface="Times New Roman" panose="02020603050405020304" pitchFamily="18" charset="0"/>
                          <a:cs typeface="Times New Roman" panose="02020603050405020304" pitchFamily="18" charset="0"/>
                        </a:rPr>
                        <a:t>Attribute Symbol</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b="1" dirty="0">
                          <a:effectLst/>
                          <a:latin typeface="Times New Roman" panose="02020603050405020304" pitchFamily="18" charset="0"/>
                          <a:cs typeface="Times New Roman" panose="02020603050405020304" pitchFamily="18" charset="0"/>
                        </a:rPr>
                        <a:t>Attribute Type</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b="1" dirty="0">
                          <a:effectLst/>
                          <a:latin typeface="Times New Roman" panose="02020603050405020304" pitchFamily="18" charset="0"/>
                          <a:cs typeface="Times New Roman" panose="02020603050405020304" pitchFamily="18" charset="0"/>
                        </a:rPr>
                        <a:t>Description</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age </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age in years</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Numerical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bp</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Blood Pressure (bp in mm/Hg)</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Numerical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sg</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Specific Gravity (1.005,1.010,1.015,1.020,1.025)</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Nominal </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al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Albumin (0,1,2,3,4,5)</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Nominal </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su</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Sugar (0,1,2,3,4,5)</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Nominal </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600" dirty="0" err="1" smtClean="0">
                          <a:effectLst/>
                          <a:latin typeface="Times New Roman" panose="02020603050405020304" pitchFamily="18" charset="0"/>
                          <a:cs typeface="Times New Roman" panose="02020603050405020304" pitchFamily="18" charset="0"/>
                        </a:rPr>
                        <a:t>rbc</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Red Blood Cells (normal, abnormal)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Nominal </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pc</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Pus Cell (normal, abnormal)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Nominal </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pcc</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Pus Cell clumps (present, not present)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Nominal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ba</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Bacteria (present, not present)</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Nominal </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600" dirty="0" err="1">
                          <a:effectLst/>
                          <a:latin typeface="Times New Roman" panose="02020603050405020304" pitchFamily="18" charset="0"/>
                          <a:cs typeface="Times New Roman" panose="02020603050405020304" pitchFamily="18" charset="0"/>
                        </a:rPr>
                        <a:t>bgr</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Blood Glucose Random (bgr in mgs/dl)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smtClean="0">
                          <a:effectLst/>
                          <a:latin typeface="Times New Roman" panose="02020603050405020304" pitchFamily="18" charset="0"/>
                          <a:cs typeface="Times New Roman" panose="02020603050405020304" pitchFamily="18" charset="0"/>
                        </a:rPr>
                        <a:t>Numerical</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400" dirty="0" err="1">
                          <a:effectLst/>
                          <a:latin typeface="Times New Roman" panose="02020603050405020304" pitchFamily="18" charset="0"/>
                          <a:cs typeface="Times New Roman" panose="02020603050405020304" pitchFamily="18" charset="0"/>
                        </a:rPr>
                        <a:t>bu</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400" dirty="0">
                          <a:effectLst/>
                          <a:latin typeface="Times New Roman" panose="02020603050405020304" pitchFamily="18" charset="0"/>
                          <a:cs typeface="Times New Roman" panose="02020603050405020304" pitchFamily="18" charset="0"/>
                        </a:rPr>
                        <a:t>Blood Urea (</a:t>
                      </a:r>
                      <a:r>
                        <a:rPr lang="en-IN" sz="1400" dirty="0" err="1">
                          <a:effectLst/>
                          <a:latin typeface="Times New Roman" panose="02020603050405020304" pitchFamily="18" charset="0"/>
                          <a:cs typeface="Times New Roman" panose="02020603050405020304" pitchFamily="18" charset="0"/>
                        </a:rPr>
                        <a:t>bu</a:t>
                      </a:r>
                      <a:r>
                        <a:rPr lang="en-IN" sz="1400" dirty="0">
                          <a:effectLst/>
                          <a:latin typeface="Times New Roman" panose="02020603050405020304" pitchFamily="18" charset="0"/>
                          <a:cs typeface="Times New Roman" panose="02020603050405020304" pitchFamily="18" charset="0"/>
                        </a:rPr>
                        <a:t> in mgs/dl)</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400" dirty="0">
                          <a:effectLst/>
                          <a:latin typeface="Times New Roman" panose="02020603050405020304" pitchFamily="18" charset="0"/>
                          <a:cs typeface="Times New Roman" panose="02020603050405020304" pitchFamily="18" charset="0"/>
                        </a:rPr>
                        <a:t>Numerical</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400" dirty="0" err="1">
                          <a:effectLst/>
                          <a:latin typeface="Times New Roman" panose="02020603050405020304" pitchFamily="18" charset="0"/>
                          <a:cs typeface="Times New Roman" panose="02020603050405020304" pitchFamily="18" charset="0"/>
                        </a:rPr>
                        <a:t>sc</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400" dirty="0">
                          <a:effectLst/>
                          <a:latin typeface="Times New Roman" panose="02020603050405020304" pitchFamily="18" charset="0"/>
                          <a:cs typeface="Times New Roman" panose="02020603050405020304" pitchFamily="18" charset="0"/>
                        </a:rPr>
                        <a:t>Serum Creatinine (</a:t>
                      </a:r>
                      <a:r>
                        <a:rPr lang="en-IN" sz="1400" dirty="0" err="1">
                          <a:effectLst/>
                          <a:latin typeface="Times New Roman" panose="02020603050405020304" pitchFamily="18" charset="0"/>
                          <a:cs typeface="Times New Roman" panose="02020603050405020304" pitchFamily="18" charset="0"/>
                        </a:rPr>
                        <a:t>sc</a:t>
                      </a:r>
                      <a:r>
                        <a:rPr lang="en-IN" sz="1400" dirty="0">
                          <a:effectLst/>
                          <a:latin typeface="Times New Roman" panose="02020603050405020304" pitchFamily="18" charset="0"/>
                          <a:cs typeface="Times New Roman" panose="02020603050405020304" pitchFamily="18" charset="0"/>
                        </a:rPr>
                        <a:t> in mgs/dl)</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400">
                          <a:effectLst/>
                          <a:latin typeface="Times New Roman" panose="02020603050405020304" pitchFamily="18" charset="0"/>
                          <a:cs typeface="Times New Roman" panose="02020603050405020304" pitchFamily="18" charset="0"/>
                        </a:rPr>
                        <a:t>Numerical</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30488">
                <a:tc>
                  <a:txBody>
                    <a:bodyPr/>
                    <a:lstStyle/>
                    <a:p>
                      <a:pPr>
                        <a:lnSpc>
                          <a:spcPct val="107000"/>
                        </a:lnSpc>
                        <a:spcAft>
                          <a:spcPts val="0"/>
                        </a:spcAft>
                      </a:pPr>
                      <a:r>
                        <a:rPr lang="en-IN" sz="1400" dirty="0">
                          <a:effectLst/>
                          <a:latin typeface="Times New Roman" panose="02020603050405020304" pitchFamily="18" charset="0"/>
                          <a:cs typeface="Times New Roman" panose="02020603050405020304" pitchFamily="18" charset="0"/>
                        </a:rPr>
                        <a:t>sod</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400" dirty="0">
                          <a:effectLst/>
                          <a:latin typeface="Times New Roman" panose="02020603050405020304" pitchFamily="18" charset="0"/>
                          <a:cs typeface="Times New Roman" panose="02020603050405020304" pitchFamily="18" charset="0"/>
                        </a:rPr>
                        <a:t>Sodium (sod in </a:t>
                      </a:r>
                      <a:r>
                        <a:rPr lang="en-IN" sz="1400" dirty="0" err="1">
                          <a:effectLst/>
                          <a:latin typeface="Times New Roman" panose="02020603050405020304" pitchFamily="18" charset="0"/>
                          <a:cs typeface="Times New Roman" panose="02020603050405020304" pitchFamily="18" charset="0"/>
                        </a:rPr>
                        <a:t>mEq</a:t>
                      </a:r>
                      <a:r>
                        <a:rPr lang="en-IN" sz="1400" dirty="0">
                          <a:effectLst/>
                          <a:latin typeface="Times New Roman" panose="02020603050405020304" pitchFamily="18" charset="0"/>
                          <a:cs typeface="Times New Roman" panose="02020603050405020304" pitchFamily="18" charset="0"/>
                        </a:rPr>
                        <a:t>/L)</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400" dirty="0">
                          <a:effectLst/>
                          <a:latin typeface="Times New Roman" panose="02020603050405020304" pitchFamily="18" charset="0"/>
                          <a:cs typeface="Times New Roman" panose="02020603050405020304" pitchFamily="18" charset="0"/>
                        </a:rPr>
                        <a:t>Numerical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DATASET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2297151058"/>
              </p:ext>
            </p:extLst>
          </p:nvPr>
        </p:nvGraphicFramePr>
        <p:xfrm>
          <a:off x="609600" y="1905000"/>
          <a:ext cx="7848600" cy="3698961"/>
        </p:xfrm>
        <a:graphic>
          <a:graphicData uri="http://schemas.openxmlformats.org/drawingml/2006/table">
            <a:tbl>
              <a:tblPr firstRow="1" bandRow="1">
                <a:tableStyleId>{2D5ABB26-0587-4C30-8999-92F81FD0307C}</a:tableStyleId>
              </a:tblPr>
              <a:tblGrid>
                <a:gridCol w="1752600"/>
                <a:gridCol w="4495800"/>
                <a:gridCol w="1600200"/>
              </a:tblGrid>
              <a:tr h="294276">
                <a:tc>
                  <a:txBody>
                    <a:bodyPr/>
                    <a:lstStyle/>
                    <a:p>
                      <a:pPr>
                        <a:lnSpc>
                          <a:spcPct val="107000"/>
                        </a:lnSpc>
                        <a:spcAft>
                          <a:spcPts val="0"/>
                        </a:spcAft>
                      </a:pPr>
                      <a:r>
                        <a:rPr lang="en-IN" sz="1600" b="1" dirty="0">
                          <a:effectLst/>
                          <a:latin typeface="Times New Roman" panose="02020603050405020304" pitchFamily="18" charset="0"/>
                          <a:cs typeface="Times New Roman" panose="02020603050405020304" pitchFamily="18" charset="0"/>
                        </a:rPr>
                        <a:t>Attribute Symbol</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b="1" dirty="0">
                          <a:effectLst/>
                          <a:latin typeface="Times New Roman" panose="02020603050405020304" pitchFamily="18" charset="0"/>
                          <a:cs typeface="Times New Roman" panose="02020603050405020304" pitchFamily="18" charset="0"/>
                        </a:rPr>
                        <a:t>Attribute Type</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b="1" dirty="0">
                          <a:effectLst/>
                          <a:latin typeface="Times New Roman" panose="02020603050405020304" pitchFamily="18" charset="0"/>
                          <a:cs typeface="Times New Roman" panose="02020603050405020304" pitchFamily="18" charset="0"/>
                        </a:rPr>
                        <a:t>Description</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94276">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pot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Potassium (pot in </a:t>
                      </a:r>
                      <a:r>
                        <a:rPr lang="en-IN" sz="1600" dirty="0" err="1">
                          <a:effectLst/>
                          <a:latin typeface="Times New Roman" panose="02020603050405020304" pitchFamily="18" charset="0"/>
                          <a:cs typeface="Times New Roman" panose="02020603050405020304" pitchFamily="18" charset="0"/>
                        </a:rPr>
                        <a:t>mEq</a:t>
                      </a:r>
                      <a:r>
                        <a:rPr lang="en-IN" sz="1600" dirty="0">
                          <a:effectLst/>
                          <a:latin typeface="Times New Roman" panose="02020603050405020304" pitchFamily="18" charset="0"/>
                          <a:cs typeface="Times New Roman" panose="02020603050405020304" pitchFamily="18" charset="0"/>
                        </a:rPr>
                        <a:t>/L)</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Numerical </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94276">
                <a:tc>
                  <a:txBody>
                    <a:bodyPr/>
                    <a:lstStyle/>
                    <a:p>
                      <a:pPr>
                        <a:lnSpc>
                          <a:spcPct val="107000"/>
                        </a:lnSpc>
                        <a:spcAft>
                          <a:spcPts val="0"/>
                        </a:spcAft>
                      </a:pPr>
                      <a:r>
                        <a:rPr lang="en-IN" sz="1600" dirty="0" err="1">
                          <a:effectLst/>
                          <a:latin typeface="Times New Roman" panose="02020603050405020304" pitchFamily="18" charset="0"/>
                          <a:cs typeface="Times New Roman" panose="02020603050405020304" pitchFamily="18" charset="0"/>
                        </a:rPr>
                        <a:t>hemo</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smtClean="0">
                          <a:effectLst/>
                          <a:latin typeface="Times New Roman" panose="02020603050405020304" pitchFamily="18" charset="0"/>
                          <a:cs typeface="Times New Roman" panose="02020603050405020304" pitchFamily="18" charset="0"/>
                        </a:rPr>
                        <a:t>Haemoglobin </a:t>
                      </a:r>
                      <a:r>
                        <a:rPr lang="en-IN" sz="1600" dirty="0">
                          <a:effectLst/>
                          <a:latin typeface="Times New Roman" panose="02020603050405020304" pitchFamily="18" charset="0"/>
                          <a:cs typeface="Times New Roman" panose="02020603050405020304" pitchFamily="18" charset="0"/>
                        </a:rPr>
                        <a:t>(</a:t>
                      </a:r>
                      <a:r>
                        <a:rPr lang="en-IN" sz="1600" dirty="0" err="1">
                          <a:effectLst/>
                          <a:latin typeface="Times New Roman" panose="02020603050405020304" pitchFamily="18" charset="0"/>
                          <a:cs typeface="Times New Roman" panose="02020603050405020304" pitchFamily="18" charset="0"/>
                        </a:rPr>
                        <a:t>hemo</a:t>
                      </a:r>
                      <a:r>
                        <a:rPr lang="en-IN" sz="1600" dirty="0">
                          <a:effectLst/>
                          <a:latin typeface="Times New Roman" panose="02020603050405020304" pitchFamily="18" charset="0"/>
                          <a:cs typeface="Times New Roman" panose="02020603050405020304" pitchFamily="18" charset="0"/>
                        </a:rPr>
                        <a:t> in </a:t>
                      </a:r>
                      <a:r>
                        <a:rPr lang="en-IN" sz="1600" dirty="0" err="1">
                          <a:effectLst/>
                          <a:latin typeface="Times New Roman" panose="02020603050405020304" pitchFamily="18" charset="0"/>
                          <a:cs typeface="Times New Roman" panose="02020603050405020304" pitchFamily="18" charset="0"/>
                        </a:rPr>
                        <a:t>gms</a:t>
                      </a:r>
                      <a:r>
                        <a:rPr lang="en-IN" sz="1600" dirty="0">
                          <a:effectLst/>
                          <a:latin typeface="Times New Roman" panose="02020603050405020304" pitchFamily="18" charset="0"/>
                          <a:cs typeface="Times New Roman" panose="02020603050405020304" pitchFamily="18" charset="0"/>
                        </a:rPr>
                        <a: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Numerical </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94276">
                <a:tc>
                  <a:txBody>
                    <a:bodyPr/>
                    <a:lstStyle/>
                    <a:p>
                      <a:pPr>
                        <a:lnSpc>
                          <a:spcPct val="107000"/>
                        </a:lnSpc>
                        <a:spcAft>
                          <a:spcPts val="0"/>
                        </a:spcAft>
                      </a:pPr>
                      <a:r>
                        <a:rPr lang="en-IN" sz="1600" dirty="0" err="1">
                          <a:effectLst/>
                          <a:latin typeface="Times New Roman" panose="02020603050405020304" pitchFamily="18" charset="0"/>
                          <a:cs typeface="Times New Roman" panose="02020603050405020304" pitchFamily="18" charset="0"/>
                        </a:rPr>
                        <a:t>pcv</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Packed Cell Volume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Numerical </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350159">
                <a:tc>
                  <a:txBody>
                    <a:bodyPr/>
                    <a:lstStyle/>
                    <a:p>
                      <a:pPr>
                        <a:lnSpc>
                          <a:spcPct val="107000"/>
                        </a:lnSpc>
                        <a:spcAft>
                          <a:spcPts val="0"/>
                        </a:spcAft>
                      </a:pPr>
                      <a:r>
                        <a:rPr lang="en-IN" sz="1600" dirty="0" err="1">
                          <a:effectLst/>
                          <a:latin typeface="Times New Roman" panose="02020603050405020304" pitchFamily="18" charset="0"/>
                          <a:cs typeface="Times New Roman" panose="02020603050405020304" pitchFamily="18" charset="0"/>
                        </a:rPr>
                        <a:t>wc</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White Blood Cell Count (</a:t>
                      </a:r>
                      <a:r>
                        <a:rPr lang="en-IN" sz="1600" dirty="0" err="1">
                          <a:effectLst/>
                          <a:latin typeface="Times New Roman" panose="02020603050405020304" pitchFamily="18" charset="0"/>
                          <a:cs typeface="Times New Roman" panose="02020603050405020304" pitchFamily="18" charset="0"/>
                        </a:rPr>
                        <a:t>wc</a:t>
                      </a:r>
                      <a:r>
                        <a:rPr lang="en-IN" sz="1600" dirty="0">
                          <a:effectLst/>
                          <a:latin typeface="Times New Roman" panose="02020603050405020304" pitchFamily="18" charset="0"/>
                          <a:cs typeface="Times New Roman" panose="02020603050405020304" pitchFamily="18" charset="0"/>
                        </a:rPr>
                        <a:t> in cells/</a:t>
                      </a:r>
                      <a:r>
                        <a:rPr lang="en-IN" sz="1600" dirty="0" err="1">
                          <a:effectLst/>
                          <a:latin typeface="Times New Roman" panose="02020603050405020304" pitchFamily="18" charset="0"/>
                          <a:cs typeface="Times New Roman" panose="02020603050405020304" pitchFamily="18" charset="0"/>
                        </a:rPr>
                        <a:t>cumm</a:t>
                      </a:r>
                      <a:r>
                        <a:rPr lang="en-IN" sz="1600" dirty="0">
                          <a:effectLst/>
                          <a:latin typeface="Times New Roman" panose="02020603050405020304" pitchFamily="18" charset="0"/>
                          <a:cs typeface="Times New Roman" panose="02020603050405020304" pitchFamily="18" charset="0"/>
                        </a:rPr>
                        <a: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Numerical </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350159">
                <a:tc>
                  <a:txBody>
                    <a:bodyPr/>
                    <a:lstStyle/>
                    <a:p>
                      <a:pPr>
                        <a:lnSpc>
                          <a:spcPct val="107000"/>
                        </a:lnSpc>
                        <a:spcAft>
                          <a:spcPts val="0"/>
                        </a:spcAft>
                      </a:pPr>
                      <a:r>
                        <a:rPr lang="en-IN" sz="1600" dirty="0" err="1">
                          <a:effectLst/>
                          <a:latin typeface="Times New Roman" panose="02020603050405020304" pitchFamily="18" charset="0"/>
                          <a:cs typeface="Times New Roman" panose="02020603050405020304" pitchFamily="18" charset="0"/>
                        </a:rPr>
                        <a:t>rc</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Red Blood Cell Count (</a:t>
                      </a:r>
                      <a:r>
                        <a:rPr lang="en-IN" sz="1600" dirty="0" err="1">
                          <a:effectLst/>
                          <a:latin typeface="Times New Roman" panose="02020603050405020304" pitchFamily="18" charset="0"/>
                          <a:cs typeface="Times New Roman" panose="02020603050405020304" pitchFamily="18" charset="0"/>
                        </a:rPr>
                        <a:t>rc</a:t>
                      </a:r>
                      <a:r>
                        <a:rPr lang="en-IN" sz="1600" dirty="0">
                          <a:effectLst/>
                          <a:latin typeface="Times New Roman" panose="02020603050405020304" pitchFamily="18" charset="0"/>
                          <a:cs typeface="Times New Roman" panose="02020603050405020304" pitchFamily="18" charset="0"/>
                        </a:rPr>
                        <a:t> in millions/</a:t>
                      </a:r>
                      <a:r>
                        <a:rPr lang="en-IN" sz="1600" dirty="0" err="1">
                          <a:effectLst/>
                          <a:latin typeface="Times New Roman" panose="02020603050405020304" pitchFamily="18" charset="0"/>
                          <a:cs typeface="Times New Roman" panose="02020603050405020304" pitchFamily="18" charset="0"/>
                        </a:rPr>
                        <a:t>cmm</a:t>
                      </a:r>
                      <a:r>
                        <a:rPr lang="en-IN" sz="1600" dirty="0">
                          <a:effectLst/>
                          <a:latin typeface="Times New Roman" panose="02020603050405020304" pitchFamily="18" charset="0"/>
                          <a:cs typeface="Times New Roman" panose="02020603050405020304" pitchFamily="18" charset="0"/>
                        </a:rPr>
                        <a: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Numerical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94276">
                <a:tc>
                  <a:txBody>
                    <a:bodyPr/>
                    <a:lstStyle/>
                    <a:p>
                      <a:pPr>
                        <a:lnSpc>
                          <a:spcPct val="107000"/>
                        </a:lnSpc>
                        <a:spcAft>
                          <a:spcPts val="0"/>
                        </a:spcAft>
                      </a:pPr>
                      <a:r>
                        <a:rPr lang="en-IN" sz="1600" dirty="0" err="1">
                          <a:effectLst/>
                          <a:latin typeface="Times New Roman" panose="02020603050405020304" pitchFamily="18" charset="0"/>
                          <a:cs typeface="Times New Roman" panose="02020603050405020304" pitchFamily="18" charset="0"/>
                        </a:rPr>
                        <a:t>htn</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Hypertension (yes, no)</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Nominal </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94276">
                <a:tc>
                  <a:txBody>
                    <a:bodyPr/>
                    <a:lstStyle/>
                    <a:p>
                      <a:pPr>
                        <a:lnSpc>
                          <a:spcPct val="107000"/>
                        </a:lnSpc>
                        <a:spcAft>
                          <a:spcPts val="0"/>
                        </a:spcAft>
                      </a:pPr>
                      <a:r>
                        <a:rPr lang="en-IN" sz="1600" dirty="0" err="1">
                          <a:effectLst/>
                          <a:latin typeface="Times New Roman" panose="02020603050405020304" pitchFamily="18" charset="0"/>
                          <a:cs typeface="Times New Roman" panose="02020603050405020304" pitchFamily="18" charset="0"/>
                        </a:rPr>
                        <a:t>dm</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Diabetes Mellitus (yes, no)</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Nominal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350159">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cad</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Coronary Artery Disease (yes, no)</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Nominal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94276">
                <a:tc>
                  <a:txBody>
                    <a:bodyPr/>
                    <a:lstStyle/>
                    <a:p>
                      <a:pPr>
                        <a:lnSpc>
                          <a:spcPct val="107000"/>
                        </a:lnSpc>
                        <a:spcAft>
                          <a:spcPts val="0"/>
                        </a:spcAft>
                      </a:pPr>
                      <a:r>
                        <a:rPr lang="en-IN" sz="1600" dirty="0" err="1">
                          <a:effectLst/>
                          <a:latin typeface="Times New Roman" panose="02020603050405020304" pitchFamily="18" charset="0"/>
                          <a:cs typeface="Times New Roman" panose="02020603050405020304" pitchFamily="18" charset="0"/>
                        </a:rPr>
                        <a:t>appet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Appetite (good, poor)</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Nominal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94276">
                <a:tc>
                  <a:txBody>
                    <a:bodyPr/>
                    <a:lstStyle/>
                    <a:p>
                      <a:pPr>
                        <a:lnSpc>
                          <a:spcPct val="107000"/>
                        </a:lnSpc>
                        <a:spcAft>
                          <a:spcPts val="0"/>
                        </a:spcAft>
                      </a:pPr>
                      <a:r>
                        <a:rPr lang="en-IN" sz="1600" dirty="0" err="1">
                          <a:effectLst/>
                          <a:latin typeface="Times New Roman" panose="02020603050405020304" pitchFamily="18" charset="0"/>
                          <a:cs typeface="Times New Roman" panose="02020603050405020304" pitchFamily="18" charset="0"/>
                        </a:rPr>
                        <a:t>pe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a:effectLst/>
                          <a:latin typeface="Times New Roman" panose="02020603050405020304" pitchFamily="18" charset="0"/>
                          <a:cs typeface="Times New Roman" panose="02020603050405020304" pitchFamily="18" charset="0"/>
                        </a:rPr>
                        <a:t>Pedal Edema (yes, no)</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Nominal</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r h="294276">
                <a:tc>
                  <a:txBody>
                    <a:bodyPr/>
                    <a:lstStyle/>
                    <a:p>
                      <a:pPr>
                        <a:lnSpc>
                          <a:spcPct val="107000"/>
                        </a:lnSpc>
                        <a:spcAft>
                          <a:spcPts val="0"/>
                        </a:spcAft>
                      </a:pPr>
                      <a:r>
                        <a:rPr lang="en-IN" sz="1600" dirty="0" err="1">
                          <a:effectLst/>
                          <a:latin typeface="Times New Roman" panose="02020603050405020304" pitchFamily="18" charset="0"/>
                          <a:cs typeface="Times New Roman" panose="02020603050405020304" pitchFamily="18" charset="0"/>
                        </a:rPr>
                        <a:t>ane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err="1">
                          <a:effectLst/>
                          <a:latin typeface="Times New Roman" panose="02020603050405020304" pitchFamily="18" charset="0"/>
                          <a:cs typeface="Times New Roman" panose="02020603050405020304" pitchFamily="18" charset="0"/>
                        </a:rPr>
                        <a:t>Anemia</a:t>
                      </a:r>
                      <a:r>
                        <a:rPr lang="en-IN" sz="1600" dirty="0">
                          <a:effectLst/>
                          <a:latin typeface="Times New Roman" panose="02020603050405020304" pitchFamily="18" charset="0"/>
                          <a:cs typeface="Times New Roman" panose="02020603050405020304" pitchFamily="18" charset="0"/>
                        </a:rPr>
                        <a:t> (yes, no)</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c>
                  <a:txBody>
                    <a:bodyPr/>
                    <a:lstStyle/>
                    <a:p>
                      <a:pPr>
                        <a:lnSpc>
                          <a:spcPct val="107000"/>
                        </a:lnSpc>
                        <a:spcAft>
                          <a:spcPts val="0"/>
                        </a:spcAft>
                      </a:pPr>
                      <a:r>
                        <a:rPr lang="en-IN" sz="1600" dirty="0">
                          <a:effectLst/>
                          <a:latin typeface="Times New Roman" panose="02020603050405020304" pitchFamily="18" charset="0"/>
                          <a:cs typeface="Times New Roman" panose="02020603050405020304" pitchFamily="18" charset="0"/>
                        </a:rPr>
                        <a:t>Nominal</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38" marR="47638" marT="0" marB="0"/>
                </a:tc>
              </a:tr>
            </a:tbl>
          </a:graphicData>
        </a:graphic>
      </p:graphicFrame>
    </p:spTree>
    <p:extLst>
      <p:ext uri="{BB962C8B-B14F-4D97-AF65-F5344CB8AC3E}">
        <p14:creationId xmlns:p14="http://schemas.microsoft.com/office/powerpoint/2010/main" xmlns="" val="24738068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229600" cy="1143000"/>
          </a:xfrm>
        </p:spPr>
        <p:txBody>
          <a:bodyPr/>
          <a:lstStyle/>
          <a:p>
            <a:pPr algn="ctr"/>
            <a:r>
              <a:rPr lang="en-US" dirty="0">
                <a:latin typeface="Times New Roman" panose="02020603050405020304" pitchFamily="18" charset="0"/>
                <a:cs typeface="Times New Roman" panose="02020603050405020304" pitchFamily="18" charset="0"/>
              </a:rPr>
              <a:t>DATASET</a:t>
            </a:r>
            <a:endParaRPr lang="en-IN" dirty="0"/>
          </a:p>
        </p:txBody>
      </p:sp>
      <p:sp>
        <p:nvSpPr>
          <p:cNvPr id="3" name="Content Placeholder 2"/>
          <p:cNvSpPr>
            <a:spLocks noGrp="1"/>
          </p:cNvSpPr>
          <p:nvPr>
            <p:ph idx="1"/>
          </p:nvPr>
        </p:nvSpPr>
        <p:spPr/>
        <p:txBody>
          <a:bodyPr/>
          <a:lstStyle/>
          <a:p>
            <a:pPr marL="0" indent="0">
              <a:buNone/>
            </a:pPr>
            <a:r>
              <a:rPr lang="en-IN" dirty="0"/>
              <a:t> </a:t>
            </a:r>
          </a:p>
        </p:txBody>
      </p:sp>
      <p:pic>
        <p:nvPicPr>
          <p:cNvPr id="4" name="Content Placeholder 3" descr="Annotation 2020-02-01 213349.png"/>
          <p:cNvPicPr>
            <a:picLocks noChangeAspect="1"/>
          </p:cNvPicPr>
          <p:nvPr/>
        </p:nvPicPr>
        <p:blipFill>
          <a:blip r:embed="rId2" cstate="print"/>
          <a:stretch>
            <a:fillRect/>
          </a:stretch>
        </p:blipFill>
        <p:spPr>
          <a:xfrm>
            <a:off x="381000" y="1524000"/>
            <a:ext cx="8516215" cy="5029200"/>
          </a:xfrm>
          <a:prstGeom prst="rect">
            <a:avLst/>
          </a:prstGeom>
        </p:spPr>
      </p:pic>
    </p:spTree>
    <p:extLst>
      <p:ext uri="{BB962C8B-B14F-4D97-AF65-F5344CB8AC3E}">
        <p14:creationId xmlns:p14="http://schemas.microsoft.com/office/powerpoint/2010/main" xmlns="" val="5665974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txBody>
          <a:bodyPr>
            <a:normAutofit/>
          </a:bodyPr>
          <a:lstStyle/>
          <a:p>
            <a:r>
              <a:rPr lang="en-US" sz="2800" dirty="0" smtClean="0">
                <a:solidFill>
                  <a:srgbClr val="FF0000"/>
                </a:solidFill>
              </a:rPr>
              <a:t>Heat Map showing the correlation of the attributes</a:t>
            </a:r>
            <a:endParaRPr lang="en-US" sz="2800" dirty="0">
              <a:solidFill>
                <a:srgbClr val="FF0000"/>
              </a:solidFill>
            </a:endParaRPr>
          </a:p>
        </p:txBody>
      </p:sp>
      <p:pic>
        <p:nvPicPr>
          <p:cNvPr id="4" name="Picture 3"/>
          <p:cNvPicPr/>
          <p:nvPr/>
        </p:nvPicPr>
        <p:blipFill>
          <a:blip r:embed="rId2" cstate="print"/>
          <a:stretch>
            <a:fillRect/>
          </a:stretch>
        </p:blipFill>
        <p:spPr>
          <a:xfrm>
            <a:off x="381000" y="914400"/>
            <a:ext cx="8458200" cy="5755957"/>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627888"/>
          </a:xfrm>
        </p:spPr>
        <p:txBody>
          <a:bodyPr>
            <a:noAutofit/>
          </a:bodyPr>
          <a:lstStyle/>
          <a:p>
            <a:r>
              <a:rPr lang="en-US" sz="3600" dirty="0">
                <a:latin typeface="Times New Roman" panose="02020603050405020304" pitchFamily="18" charset="0"/>
                <a:cs typeface="Times New Roman" panose="02020603050405020304" pitchFamily="18" charset="0"/>
              </a:rPr>
              <a:t>Chronic kidney disease Modeling(</a:t>
            </a:r>
            <a:r>
              <a:rPr lang="en-US" sz="3600" dirty="0" err="1">
                <a:latin typeface="Times New Roman" panose="02020603050405020304" pitchFamily="18" charset="0"/>
                <a:cs typeface="Times New Roman" panose="02020603050405020304" pitchFamily="18" charset="0"/>
              </a:rPr>
              <a:t>Contd</a:t>
            </a:r>
            <a:r>
              <a:rPr lang="en-US" sz="3600" dirty="0">
                <a:latin typeface="Times New Roman" panose="02020603050405020304" pitchFamily="18" charset="0"/>
                <a:cs typeface="Times New Roman" panose="02020603050405020304" pitchFamily="18" charset="0"/>
              </a:rPr>
              <a:t>…)</a:t>
            </a:r>
          </a:p>
        </p:txBody>
      </p:sp>
      <p:pic>
        <p:nvPicPr>
          <p:cNvPr id="6" name="Content Placeholder 5" descr="ckdflow.png"/>
          <p:cNvPicPr>
            <a:picLocks noGrp="1" noChangeAspect="1"/>
          </p:cNvPicPr>
          <p:nvPr>
            <p:ph idx="1"/>
          </p:nvPr>
        </p:nvPicPr>
        <p:blipFill>
          <a:blip r:embed="rId2" cstate="print"/>
          <a:stretch>
            <a:fillRect/>
          </a:stretch>
        </p:blipFill>
        <p:spPr>
          <a:xfrm>
            <a:off x="2654079" y="1935163"/>
            <a:ext cx="3835842" cy="4389437"/>
          </a:xfr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IN" dirty="0" smtClean="0">
                <a:latin typeface="Times New Roman" panose="02020603050405020304" pitchFamily="18" charset="0"/>
                <a:cs typeface="Times New Roman" panose="02020603050405020304" pitchFamily="18" charset="0"/>
              </a:rPr>
              <a:t>Algorithms used: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4389120"/>
          </a:xfrm>
        </p:spPr>
        <p:txBody>
          <a:bodyPr>
            <a:normAutofit/>
          </a:bodyPr>
          <a:lstStyle/>
          <a:p>
            <a:pPr algn="just"/>
            <a:r>
              <a:rPr lang="en-GB" b="1" dirty="0" smtClean="0">
                <a:latin typeface="Times New Roman" panose="02020603050405020304" pitchFamily="18" charset="0"/>
                <a:cs typeface="Times New Roman" panose="02020603050405020304" pitchFamily="18" charset="0"/>
              </a:rPr>
              <a:t>Decision Tree</a:t>
            </a:r>
            <a:r>
              <a:rPr lang="en-GB" dirty="0" smtClean="0">
                <a:latin typeface="Times New Roman" panose="02020603050405020304" pitchFamily="18" charset="0"/>
                <a:cs typeface="Times New Roman" panose="02020603050405020304" pitchFamily="18" charset="0"/>
              </a:rPr>
              <a:t>: Decision Tree Analysis is a general, predictive modelling tool that has applications spanning a number of different areas. In general, decision trees are constructed via an algorithmic approach that identifies ways to split a data set based on different conditions. </a:t>
            </a:r>
          </a:p>
          <a:p>
            <a:pPr algn="just"/>
            <a:r>
              <a:rPr lang="en-GB" dirty="0" smtClean="0">
                <a:latin typeface="Times New Roman" panose="02020603050405020304" pitchFamily="18" charset="0"/>
                <a:cs typeface="Times New Roman" panose="02020603050405020304" pitchFamily="18" charset="0"/>
              </a:rPr>
              <a:t>The goal is to create a model that predicts the value of a target variable by learning simple decision rules inferred from the data features.</a:t>
            </a:r>
          </a:p>
          <a:p>
            <a:pPr algn="just"/>
            <a:r>
              <a:rPr lang="en-GB" dirty="0" smtClean="0">
                <a:latin typeface="Times New Roman" panose="02020603050405020304" pitchFamily="18" charset="0"/>
                <a:cs typeface="Times New Roman" panose="02020603050405020304" pitchFamily="18" charset="0"/>
              </a:rPr>
              <a:t>The maximum accuracy obtained using the Decision tree is 100%.</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IN" dirty="0" smtClean="0">
                <a:latin typeface="Times New Roman" panose="02020603050405020304" pitchFamily="18" charset="0"/>
                <a:cs typeface="Times New Roman" panose="02020603050405020304" pitchFamily="18" charset="0"/>
              </a:rPr>
              <a:t>Algorithms used(Contd...)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4389120"/>
          </a:xfrm>
        </p:spPr>
        <p:txBody>
          <a:bodyPr>
            <a:normAutofit fontScale="92500"/>
          </a:bodyPr>
          <a:lstStyle/>
          <a:p>
            <a:pPr algn="just"/>
            <a:r>
              <a:rPr lang="en-GB" b="1" dirty="0" smtClean="0">
                <a:latin typeface="Times New Roman" panose="02020603050405020304" pitchFamily="18" charset="0"/>
                <a:cs typeface="Times New Roman" panose="02020603050405020304" pitchFamily="18" charset="0"/>
              </a:rPr>
              <a:t> Random Forest:</a:t>
            </a:r>
            <a:r>
              <a:rPr lang="en-GB" dirty="0" smtClean="0">
                <a:latin typeface="Times New Roman" panose="02020603050405020304" pitchFamily="18" charset="0"/>
                <a:cs typeface="Times New Roman" panose="02020603050405020304" pitchFamily="18" charset="0"/>
              </a:rPr>
              <a:t> Random  Forests  are an  ensemble  learning  method  (also  thought  of  as  a  form  of nearest neighbour predictor) for classification and regression techniques. </a:t>
            </a:r>
          </a:p>
          <a:p>
            <a:pPr algn="just"/>
            <a:r>
              <a:rPr lang="en-GB" dirty="0" smtClean="0">
                <a:latin typeface="Times New Roman" panose="02020603050405020304" pitchFamily="18" charset="0"/>
                <a:cs typeface="Times New Roman" panose="02020603050405020304" pitchFamily="18" charset="0"/>
              </a:rPr>
              <a:t>It builds multiple decision trees and then merges them together in-order to get more accurate and stable predictions. </a:t>
            </a:r>
          </a:p>
          <a:p>
            <a:pPr algn="just"/>
            <a:r>
              <a:rPr lang="en-GB" dirty="0" smtClean="0">
                <a:latin typeface="Times New Roman" panose="02020603050405020304" pitchFamily="18" charset="0"/>
                <a:cs typeface="Times New Roman" panose="02020603050405020304" pitchFamily="18" charset="0"/>
              </a:rPr>
              <a:t>It also tries to minimize the problems of high variance  and  high  bias  by  averaging  to  find  a  natural  balance  between  the  two extremes.</a:t>
            </a:r>
          </a:p>
          <a:p>
            <a:pPr algn="just"/>
            <a:r>
              <a:rPr lang="en-GB" dirty="0" smtClean="0">
                <a:latin typeface="Times New Roman" panose="02020603050405020304" pitchFamily="18" charset="0"/>
                <a:cs typeface="Times New Roman" panose="02020603050405020304" pitchFamily="18" charset="0"/>
              </a:rPr>
              <a:t>Maximum accuracy obtained by applying Random forest is 100%.</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IN" dirty="0">
                <a:latin typeface="Times New Roman" panose="02020603050405020304" pitchFamily="18" charset="0"/>
                <a:cs typeface="Times New Roman" panose="02020603050405020304" pitchFamily="18" charset="0"/>
              </a:rPr>
              <a:t>Algorithms used(Contd...)</a:t>
            </a:r>
          </a:p>
        </p:txBody>
      </p:sp>
      <p:sp>
        <p:nvSpPr>
          <p:cNvPr id="3" name="Content Placeholder 2"/>
          <p:cNvSpPr>
            <a:spLocks noGrp="1"/>
          </p:cNvSpPr>
          <p:nvPr>
            <p:ph idx="1"/>
          </p:nvPr>
        </p:nvSpPr>
        <p:spPr/>
        <p:txBody>
          <a:bodyPr>
            <a:normAutofit fontScale="92500"/>
          </a:bodyPr>
          <a:lstStyle/>
          <a:p>
            <a:pPr algn="just"/>
            <a:r>
              <a:rPr lang="en-GB" b="1" dirty="0">
                <a:latin typeface="Times New Roman" panose="02020603050405020304" pitchFamily="18" charset="0"/>
                <a:cs typeface="Times New Roman" panose="02020603050405020304" pitchFamily="18" charset="0"/>
              </a:rPr>
              <a:t>KNN</a:t>
            </a:r>
            <a:r>
              <a:rPr lang="en-GB" dirty="0">
                <a:latin typeface="Times New Roman" panose="02020603050405020304" pitchFamily="18" charset="0"/>
                <a:cs typeface="Times New Roman" panose="02020603050405020304" pitchFamily="18" charset="0"/>
              </a:rPr>
              <a:t>: KNN algorithm is one of the simplest classification algorithms and it is one of the most used learning algorithms. KNN is a non-parametric, lazy learning algorithm. </a:t>
            </a:r>
            <a:endParaRPr lang="en-GB" dirty="0" smtClean="0">
              <a:latin typeface="Times New Roman" panose="02020603050405020304" pitchFamily="18" charset="0"/>
              <a:cs typeface="Times New Roman" panose="02020603050405020304" pitchFamily="18" charset="0"/>
            </a:endParaRPr>
          </a:p>
          <a:p>
            <a:pPr algn="just"/>
            <a:r>
              <a:rPr lang="en-GB" dirty="0" smtClean="0">
                <a:latin typeface="Times New Roman" panose="02020603050405020304" pitchFamily="18" charset="0"/>
                <a:cs typeface="Times New Roman" panose="02020603050405020304" pitchFamily="18" charset="0"/>
              </a:rPr>
              <a:t>Its </a:t>
            </a:r>
            <a:r>
              <a:rPr lang="en-GB" dirty="0">
                <a:latin typeface="Times New Roman" panose="02020603050405020304" pitchFamily="18" charset="0"/>
                <a:cs typeface="Times New Roman" panose="02020603050405020304" pitchFamily="18" charset="0"/>
              </a:rPr>
              <a:t>purpose is to use a dataset in which the data points are separated into several classes to predict the classification of a new sample point. </a:t>
            </a:r>
            <a:endParaRPr lang="en-GB" dirty="0" smtClean="0">
              <a:latin typeface="Times New Roman" panose="02020603050405020304" pitchFamily="18" charset="0"/>
              <a:cs typeface="Times New Roman" panose="02020603050405020304" pitchFamily="18" charset="0"/>
            </a:endParaRPr>
          </a:p>
          <a:p>
            <a:pPr algn="just"/>
            <a:r>
              <a:rPr lang="en-GB" dirty="0" smtClean="0">
                <a:latin typeface="Times New Roman" panose="02020603050405020304" pitchFamily="18" charset="0"/>
                <a:cs typeface="Times New Roman" panose="02020603050405020304" pitchFamily="18" charset="0"/>
              </a:rPr>
              <a:t>A </a:t>
            </a:r>
            <a:r>
              <a:rPr lang="en-GB" dirty="0">
                <a:latin typeface="Times New Roman" panose="02020603050405020304" pitchFamily="18" charset="0"/>
                <a:cs typeface="Times New Roman" panose="02020603050405020304" pitchFamily="18" charset="0"/>
              </a:rPr>
              <a:t>KNN algorithm uses a data and classifies new data points based on a similarity measures (e.g. distance function, error rate). Classification is done by a majority vote to its neighbours</a:t>
            </a:r>
            <a:r>
              <a:rPr lang="en-GB" dirty="0" smtClean="0">
                <a:latin typeface="Times New Roman" panose="02020603050405020304" pitchFamily="18" charset="0"/>
                <a:cs typeface="Times New Roman" panose="02020603050405020304" pitchFamily="18" charset="0"/>
              </a:rPr>
              <a:t>.</a:t>
            </a:r>
          </a:p>
          <a:p>
            <a:pPr algn="just"/>
            <a:r>
              <a:rPr lang="en-GB" dirty="0" smtClean="0">
                <a:latin typeface="Times New Roman" panose="02020603050405020304" pitchFamily="18" charset="0"/>
                <a:cs typeface="Times New Roman" panose="02020603050405020304" pitchFamily="18" charset="0"/>
              </a:rPr>
              <a:t>Maximum accuracy obtained using KNN is 94.14%.</a:t>
            </a:r>
            <a:endParaRPr lang="en-US" dirty="0">
              <a:latin typeface="Times New Roman" panose="02020603050405020304" pitchFamily="18" charset="0"/>
              <a:cs typeface="Times New Roman" panose="02020603050405020304" pitchFamily="18" charset="0"/>
            </a:endParaRPr>
          </a:p>
          <a:p>
            <a:pPr algn="just">
              <a:buNone/>
            </a:pPr>
            <a:endParaRPr lang="en-IN" dirty="0"/>
          </a:p>
        </p:txBody>
      </p:sp>
    </p:spTree>
    <p:extLst>
      <p:ext uri="{BB962C8B-B14F-4D97-AF65-F5344CB8AC3E}">
        <p14:creationId xmlns:p14="http://schemas.microsoft.com/office/powerpoint/2010/main" xmlns="" val="21737030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anose="02020603050405020304" pitchFamily="18" charset="0"/>
                <a:cs typeface="Times New Roman" panose="02020603050405020304" pitchFamily="18" charset="0"/>
              </a:rPr>
              <a:t>Algorithms used(Contd...)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gn="just"/>
            <a:r>
              <a:rPr lang="en-GB" b="1" dirty="0" smtClean="0">
                <a:latin typeface="Times New Roman" panose="02020603050405020304" pitchFamily="18" charset="0"/>
                <a:cs typeface="Times New Roman" panose="02020603050405020304" pitchFamily="18" charset="0"/>
              </a:rPr>
              <a:t>Logistic Regression:</a:t>
            </a:r>
            <a:r>
              <a:rPr lang="en-IN" dirty="0" smtClean="0">
                <a:latin typeface="Times New Roman" panose="02020603050405020304" pitchFamily="18" charset="0"/>
                <a:cs typeface="Times New Roman" panose="02020603050405020304" pitchFamily="18" charset="0"/>
              </a:rPr>
              <a:t>Logistic regression is one of the most popular Machine Learning algorithms, which comes under the Supervised Learning technique. </a:t>
            </a:r>
          </a:p>
          <a:p>
            <a:pPr algn="just"/>
            <a:r>
              <a:rPr lang="en-IN" dirty="0" smtClean="0">
                <a:latin typeface="Times New Roman" panose="02020603050405020304" pitchFamily="18" charset="0"/>
                <a:cs typeface="Times New Roman" panose="02020603050405020304" pitchFamily="18" charset="0"/>
              </a:rPr>
              <a:t>It is used for predicting the categorical dependent variable using a given set of independent variables.</a:t>
            </a:r>
          </a:p>
          <a:p>
            <a:pPr algn="just"/>
            <a:r>
              <a:rPr lang="en-IN" dirty="0" smtClean="0">
                <a:latin typeface="Times New Roman" panose="02020603050405020304" pitchFamily="18" charset="0"/>
                <a:cs typeface="Times New Roman" panose="02020603050405020304" pitchFamily="18" charset="0"/>
              </a:rPr>
              <a:t> Logistic regression predicts the output of a categorical dependent variable. Therefore the outcome must be a categorical or discrete value. It can be either Yes or No, 0 or 1, true or False, etc. </a:t>
            </a:r>
          </a:p>
          <a:p>
            <a:pPr algn="just"/>
            <a:r>
              <a:rPr lang="en-IN" dirty="0" smtClean="0">
                <a:latin typeface="Times New Roman" panose="02020603050405020304" pitchFamily="18" charset="0"/>
                <a:cs typeface="Times New Roman" panose="02020603050405020304" pitchFamily="18" charset="0"/>
              </a:rPr>
              <a:t>Maximum accuracy obtained using Logistic Regression is  97.5%.</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15962"/>
            <a:ext cx="7772400" cy="655638"/>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Algorithm Description</a:t>
            </a:r>
          </a:p>
        </p:txBody>
      </p:sp>
      <p:sp>
        <p:nvSpPr>
          <p:cNvPr id="3" name="Content Placeholder 2"/>
          <p:cNvSpPr>
            <a:spLocks noGrp="1"/>
          </p:cNvSpPr>
          <p:nvPr>
            <p:ph idx="1"/>
          </p:nvPr>
        </p:nvSpPr>
        <p:spPr>
          <a:xfrm>
            <a:off x="914400" y="1447800"/>
            <a:ext cx="7772400" cy="5181600"/>
          </a:xfrm>
        </p:spPr>
        <p:txBody>
          <a:bodyPr>
            <a:normAutofit fontScale="92500"/>
          </a:bodyPr>
          <a:lstStyle/>
          <a:p>
            <a:r>
              <a:rPr lang="en-US" dirty="0" smtClean="0"/>
              <a:t>Assuming your dataset has “m” features, the random forest will randomly choose “k” features where k &lt; m. </a:t>
            </a:r>
            <a:endParaRPr lang="en-US" dirty="0" smtClean="0"/>
          </a:p>
          <a:p>
            <a:r>
              <a:rPr lang="en-US" dirty="0" smtClean="0"/>
              <a:t> </a:t>
            </a:r>
            <a:r>
              <a:rPr lang="en-US" dirty="0" smtClean="0"/>
              <a:t>Now, the algorithm will calculate the root node among the k features by picking a node that has the highest information gain. </a:t>
            </a:r>
          </a:p>
          <a:p>
            <a:r>
              <a:rPr lang="en-US" dirty="0" smtClean="0"/>
              <a:t>After that, the algorithm splits the node into child nodes and repeats this process “n” times</a:t>
            </a:r>
            <a:r>
              <a:rPr lang="en-US" dirty="0" smtClean="0"/>
              <a:t>.</a:t>
            </a:r>
          </a:p>
          <a:p>
            <a:r>
              <a:rPr lang="en-US" dirty="0" smtClean="0"/>
              <a:t> </a:t>
            </a:r>
            <a:r>
              <a:rPr lang="en-US" dirty="0" smtClean="0"/>
              <a:t>Now you have a forest with n trees. Finally, you’ll perform bootstrapping, </a:t>
            </a:r>
            <a:r>
              <a:rPr lang="en-US" dirty="0" err="1" smtClean="0"/>
              <a:t>ie</a:t>
            </a:r>
            <a:r>
              <a:rPr lang="en-US" dirty="0" smtClean="0"/>
              <a:t>, combine the results of all the decision trees present in your forest.</a:t>
            </a:r>
          </a:p>
          <a:p>
            <a:r>
              <a:rPr lang="en-US" dirty="0" smtClean="0"/>
              <a:t>It’s certainly one of the most sophisticated algorithms as it builds on the functionality of decision trees. </a:t>
            </a:r>
          </a:p>
          <a:p>
            <a:pPr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latin typeface="Times New Roman" panose="02020603050405020304" pitchFamily="18" charset="0"/>
                <a:cs typeface="Times New Roman" panose="02020603050405020304" pitchFamily="18" charset="0"/>
              </a:rPr>
              <a:t>Random Forest Classifier working</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xmlns="" id="{BEAE2FC9-9D32-47CC-A71C-756EB408EF81}"/>
              </a:ext>
            </a:extLst>
          </p:cNvPr>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Step 1: </a:t>
            </a:r>
            <a:r>
              <a:rPr lang="en-US" dirty="0" smtClean="0"/>
              <a:t>Select N random records from the given datasets</a:t>
            </a:r>
            <a:r>
              <a:rPr lang="en-US" dirty="0" smtClean="0"/>
              <a: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Step 2: </a:t>
            </a:r>
            <a:r>
              <a:rPr lang="en-US" dirty="0" smtClean="0"/>
              <a:t>Create a decision tree based on the given training data set (rules)</a:t>
            </a:r>
            <a:endParaRPr lang="en-US"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Step 3: </a:t>
            </a:r>
            <a:r>
              <a:rPr lang="en-US" dirty="0" smtClean="0"/>
              <a:t>Suppose you want to create 5 different decision trees for your algorithm for this project, then repeat step 1 and 2, To create a total 5 decision tree.</a:t>
            </a:r>
            <a:endParaRPr lang="en-US" dirty="0">
              <a:latin typeface="Times New Roman" panose="02020603050405020304" pitchFamily="18" charset="0"/>
              <a:cs typeface="Times New Roman" panose="02020603050405020304" pitchFamily="18" charset="0"/>
            </a:endParaRPr>
          </a:p>
          <a:p>
            <a:pPr algn="just"/>
            <a:r>
              <a:rPr lang="en-US" dirty="0" smtClean="0"/>
              <a:t>As we know this Random Forest Algorithm works for both regression and classification task so for a new input data </a:t>
            </a:r>
          </a:p>
          <a:p>
            <a:pPr algn="just"/>
            <a:r>
              <a:rPr lang="en-US" b="1" dirty="0" smtClean="0"/>
              <a:t>classification task</a:t>
            </a:r>
            <a:r>
              <a:rPr lang="en-US" dirty="0" smtClean="0"/>
              <a:t> each decision tree of the algorithm will predict an output value based on their decision condition and Finally, the new record is assigned to the category that wins the </a:t>
            </a:r>
            <a:r>
              <a:rPr lang="en-US" b="1" dirty="0" smtClean="0"/>
              <a:t>majority vote</a:t>
            </a:r>
            <a:r>
              <a:rPr lang="en-US" dirty="0" smtClean="0"/>
              <a:t>.</a:t>
            </a:r>
            <a:endParaRPr lang="en-US" dirty="0" smtClean="0"/>
          </a:p>
          <a:p>
            <a:pPr algn="just"/>
            <a:r>
              <a:rPr lang="en-IN" dirty="0" smtClean="0">
                <a:latin typeface="Times New Roman" panose="02020603050405020304" pitchFamily="18" charset="0"/>
                <a:cs typeface="Times New Roman" panose="02020603050405020304" pitchFamily="18" charset="0"/>
              </a:rPr>
              <a:t>The </a:t>
            </a:r>
            <a:r>
              <a:rPr lang="en-IN" dirty="0" smtClean="0">
                <a:latin typeface="Times New Roman" panose="02020603050405020304" pitchFamily="18" charset="0"/>
                <a:cs typeface="Times New Roman" panose="02020603050405020304" pitchFamily="18" charset="0"/>
              </a:rPr>
              <a:t>algorithm has given the maximum accuracy of  </a:t>
            </a:r>
            <a:r>
              <a:rPr lang="en-IN" dirty="0" smtClean="0">
                <a:latin typeface="Times New Roman" panose="02020603050405020304" pitchFamily="18" charset="0"/>
                <a:cs typeface="Times New Roman" panose="02020603050405020304" pitchFamily="18" charset="0"/>
              </a:rPr>
              <a:t>100</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IN" dirty="0" smtClean="0">
                <a:latin typeface="Times New Roman" panose="02020603050405020304" pitchFamily="18" charset="0"/>
                <a:cs typeface="Times New Roman" panose="02020603050405020304" pitchFamily="18" charset="0"/>
              </a:rPr>
              <a:t>Comparison </a:t>
            </a:r>
            <a:r>
              <a:rPr lang="en-IN" dirty="0" smtClean="0">
                <a:latin typeface="Times New Roman" panose="02020603050405020304" pitchFamily="18" charset="0"/>
                <a:cs typeface="Times New Roman" panose="02020603050405020304" pitchFamily="18" charset="0"/>
              </a:rPr>
              <a:t>using graph:</a:t>
            </a:r>
            <a:endParaRPr lang="en-US" dirty="0">
              <a:latin typeface="Times New Roman" panose="02020603050405020304" pitchFamily="18" charset="0"/>
              <a:cs typeface="Times New Roman" panose="02020603050405020304" pitchFamily="18" charset="0"/>
            </a:endParaRPr>
          </a:p>
        </p:txBody>
      </p:sp>
      <p:pic>
        <p:nvPicPr>
          <p:cNvPr id="7" name="Content Placeholder 6" descr="ckdgraph.png"/>
          <p:cNvPicPr>
            <a:picLocks noGrp="1" noChangeAspect="1"/>
          </p:cNvPicPr>
          <p:nvPr>
            <p:ph idx="1"/>
          </p:nvPr>
        </p:nvPicPr>
        <p:blipFill>
          <a:blip r:embed="rId2" cstate="print"/>
          <a:stretch>
            <a:fillRect/>
          </a:stretch>
        </p:blipFill>
        <p:spPr>
          <a:xfrm>
            <a:off x="519362" y="1935163"/>
            <a:ext cx="8105276" cy="4389437"/>
          </a:xfr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543800" cy="1280890"/>
          </a:xfrm>
        </p:spPr>
        <p:txBody>
          <a:bodyPr/>
          <a:lstStyle/>
          <a:p>
            <a:pPr algn="ctr"/>
            <a:r>
              <a:rPr lang="en-US" dirty="0" smtClean="0">
                <a:latin typeface="Times New Roman" panose="02020603050405020304" pitchFamily="18" charset="0"/>
                <a:cs typeface="Times New Roman" panose="02020603050405020304" pitchFamily="18" charset="0"/>
              </a:rPr>
              <a:t>OUTPUT SCREEN</a:t>
            </a:r>
            <a:endParaRPr lang="en-US" dirty="0">
              <a:latin typeface="Times New Roman" panose="02020603050405020304" pitchFamily="18" charset="0"/>
              <a:cs typeface="Times New Roman" panose="02020603050405020304" pitchFamily="18" charset="0"/>
            </a:endParaRPr>
          </a:p>
        </p:txBody>
      </p:sp>
      <p:pic>
        <p:nvPicPr>
          <p:cNvPr id="6" name="Content Placeholder 5"/>
          <p:cNvPicPr>
            <a:picLocks noGrp="1"/>
          </p:cNvPicPr>
          <p:nvPr>
            <p:ph idx="1"/>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val="0"/>
              </a:ext>
            </a:extLst>
          </a:blip>
          <a:srcRect/>
          <a:stretch>
            <a:fillRect/>
          </a:stretch>
        </p:blipFill>
        <p:spPr bwMode="auto">
          <a:xfrm>
            <a:off x="457200" y="1371600"/>
            <a:ext cx="8229600" cy="4953000"/>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510"/>
            <a:ext cx="7620000" cy="1280890"/>
          </a:xfrm>
        </p:spPr>
        <p:txBody>
          <a:bodyPr/>
          <a:lstStyle/>
          <a:p>
            <a:pPr algn="ctr"/>
            <a:r>
              <a:rPr lang="en-US" dirty="0" smtClean="0">
                <a:latin typeface="Times New Roman" panose="02020603050405020304" pitchFamily="18" charset="0"/>
                <a:cs typeface="Times New Roman" panose="02020603050405020304" pitchFamily="18" charset="0"/>
              </a:rPr>
              <a:t>OUTPUT SCREEN</a:t>
            </a:r>
            <a:endParaRPr lang="en-US"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endParaRPr lang="en-US"/>
          </a:p>
        </p:txBody>
      </p:sp>
      <p:pic>
        <p:nvPicPr>
          <p:cNvPr id="6" name="Picture 5"/>
          <p:cNvPicPr/>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val="0"/>
              </a:ext>
            </a:extLst>
          </a:blip>
          <a:srcRect/>
          <a:stretch>
            <a:fillRect/>
          </a:stretch>
        </p:blipFill>
        <p:spPr bwMode="auto">
          <a:xfrm>
            <a:off x="381000" y="1600200"/>
            <a:ext cx="8382000" cy="4724400"/>
          </a:xfrm>
          <a:prstGeom prst="rect">
            <a:avLst/>
          </a:prstGeom>
          <a:noFill/>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467600" cy="1280890"/>
          </a:xfrm>
        </p:spPr>
        <p:txBody>
          <a:bodyPr/>
          <a:lstStyle/>
          <a:p>
            <a:pPr algn="ctr"/>
            <a:r>
              <a:rPr lang="en-US" dirty="0" smtClean="0">
                <a:latin typeface="Times New Roman" panose="02020603050405020304" pitchFamily="18" charset="0"/>
                <a:cs typeface="Times New Roman" panose="02020603050405020304" pitchFamily="18" charset="0"/>
              </a:rPr>
              <a:t>OUTPUT SCREEN</a:t>
            </a:r>
            <a:endParaRPr lang="en-IN"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val="0"/>
              </a:ext>
            </a:extLst>
          </a:blip>
          <a:srcRect/>
          <a:stretch>
            <a:fillRect/>
          </a:stretch>
        </p:blipFill>
        <p:spPr bwMode="auto">
          <a:xfrm>
            <a:off x="685800" y="1371600"/>
            <a:ext cx="7924800" cy="4800600"/>
          </a:xfrm>
          <a:prstGeom prst="rect">
            <a:avLst/>
          </a:prstGeom>
          <a:noFill/>
          <a:ln>
            <a:noFill/>
          </a:ln>
        </p:spPr>
      </p:pic>
    </p:spTree>
    <p:extLst>
      <p:ext uri="{BB962C8B-B14F-4D97-AF65-F5344CB8AC3E}">
        <p14:creationId xmlns:p14="http://schemas.microsoft.com/office/powerpoint/2010/main" xmlns="" val="34666122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467600" cy="1280890"/>
          </a:xfrm>
        </p:spPr>
        <p:txBody>
          <a:bodyPr/>
          <a:lstStyle/>
          <a:p>
            <a:pPr algn="ctr"/>
            <a:r>
              <a:rPr lang="en-US" dirty="0" smtClean="0">
                <a:latin typeface="Times New Roman" panose="02020603050405020304" pitchFamily="18" charset="0"/>
                <a:cs typeface="Times New Roman" panose="02020603050405020304" pitchFamily="18" charset="0"/>
              </a:rPr>
              <a:t>OUTPUT SCREEN</a:t>
            </a:r>
            <a:endParaRPr lang="en-IN"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val="0"/>
              </a:ext>
            </a:extLst>
          </a:blip>
          <a:srcRect/>
          <a:stretch>
            <a:fillRect/>
          </a:stretch>
        </p:blipFill>
        <p:spPr bwMode="auto">
          <a:xfrm>
            <a:off x="609600" y="1600200"/>
            <a:ext cx="8001000" cy="4648200"/>
          </a:xfrm>
          <a:prstGeom prst="rect">
            <a:avLst/>
          </a:prstGeom>
          <a:noFill/>
          <a:ln>
            <a:noFill/>
          </a:ln>
        </p:spPr>
      </p:pic>
    </p:spTree>
    <p:extLst>
      <p:ext uri="{BB962C8B-B14F-4D97-AF65-F5344CB8AC3E}">
        <p14:creationId xmlns:p14="http://schemas.microsoft.com/office/powerpoint/2010/main" xmlns="" val="34666122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467600" cy="1280890"/>
          </a:xfrm>
        </p:spPr>
        <p:txBody>
          <a:bodyPr/>
          <a:lstStyle/>
          <a:p>
            <a:pPr algn="ctr"/>
            <a:r>
              <a:rPr lang="en-US" dirty="0" smtClean="0">
                <a:latin typeface="Times New Roman" panose="02020603050405020304" pitchFamily="18" charset="0"/>
                <a:cs typeface="Times New Roman" panose="02020603050405020304" pitchFamily="18" charset="0"/>
              </a:rPr>
              <a:t>OUTPUT SCREEN</a:t>
            </a:r>
            <a:endParaRPr lang="en-IN"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val="0"/>
              </a:ext>
            </a:extLst>
          </a:blip>
          <a:srcRect/>
          <a:stretch>
            <a:fillRect/>
          </a:stretch>
        </p:blipFill>
        <p:spPr bwMode="auto">
          <a:xfrm>
            <a:off x="762000" y="1600200"/>
            <a:ext cx="7696200" cy="4572000"/>
          </a:xfrm>
          <a:prstGeom prst="rect">
            <a:avLst/>
          </a:prstGeom>
          <a:noFill/>
          <a:ln>
            <a:noFill/>
          </a:ln>
        </p:spPr>
      </p:pic>
    </p:spTree>
    <p:extLst>
      <p:ext uri="{BB962C8B-B14F-4D97-AF65-F5344CB8AC3E}">
        <p14:creationId xmlns:p14="http://schemas.microsoft.com/office/powerpoint/2010/main" xmlns="" val="34666122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467600" cy="1280890"/>
          </a:xfrm>
        </p:spPr>
        <p:txBody>
          <a:bodyPr/>
          <a:lstStyle/>
          <a:p>
            <a:pPr algn="ctr"/>
            <a:r>
              <a:rPr lang="en-US" dirty="0" smtClean="0">
                <a:latin typeface="Times New Roman" panose="02020603050405020304" pitchFamily="18" charset="0"/>
                <a:cs typeface="Times New Roman" panose="02020603050405020304" pitchFamily="18" charset="0"/>
              </a:rPr>
              <a:t>OUTPUT SCREEN</a:t>
            </a:r>
            <a:endParaRPr lang="en-IN"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val="0"/>
              </a:ext>
            </a:extLst>
          </a:blip>
          <a:srcRect/>
          <a:stretch>
            <a:fillRect/>
          </a:stretch>
        </p:blipFill>
        <p:spPr bwMode="auto">
          <a:xfrm>
            <a:off x="838200" y="1524000"/>
            <a:ext cx="7620000" cy="4648200"/>
          </a:xfrm>
          <a:prstGeom prst="rect">
            <a:avLst/>
          </a:prstGeom>
          <a:noFill/>
          <a:ln>
            <a:noFill/>
          </a:ln>
        </p:spPr>
      </p:pic>
    </p:spTree>
    <p:extLst>
      <p:ext uri="{BB962C8B-B14F-4D97-AF65-F5344CB8AC3E}">
        <p14:creationId xmlns:p14="http://schemas.microsoft.com/office/powerpoint/2010/main" xmlns="" val="34666122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lstStyle/>
          <a:p>
            <a:pPr algn="ctr"/>
            <a:r>
              <a:rPr lang="en-US" dirty="0" smtClean="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this </a:t>
            </a:r>
            <a:r>
              <a:rPr lang="en-US" dirty="0" smtClean="0">
                <a:latin typeface="Times New Roman" panose="02020603050405020304" pitchFamily="18" charset="0"/>
                <a:cs typeface="Times New Roman" panose="02020603050405020304" pitchFamily="18" charset="0"/>
              </a:rPr>
              <a:t>project, </a:t>
            </a:r>
            <a:r>
              <a:rPr lang="en-US" dirty="0">
                <a:latin typeface="Times New Roman" panose="02020603050405020304" pitchFamily="18" charset="0"/>
                <a:cs typeface="Times New Roman" panose="02020603050405020304" pitchFamily="18" charset="0"/>
              </a:rPr>
              <a:t>we proposed a probability based approach to categorize the medical chronic kidney disease records collected from </a:t>
            </a:r>
            <a:r>
              <a:rPr lang="en-US" dirty="0" err="1">
                <a:latin typeface="Times New Roman" panose="02020603050405020304" pitchFamily="18" charset="0"/>
                <a:cs typeface="Times New Roman" panose="02020603050405020304" pitchFamily="18" charset="0"/>
              </a:rPr>
              <a:t>kaggle</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This algorithm utilizes the probability distribution of records to identify there is disease present or not.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3C9EA0-9DAE-4F2D-BB23-EF8ACCA2B510}"/>
              </a:ext>
            </a:extLst>
          </p:cNvPr>
          <p:cNvSpPr>
            <a:spLocks noGrp="1"/>
          </p:cNvSpPr>
          <p:nvPr>
            <p:ph type="title"/>
          </p:nvPr>
        </p:nvSpPr>
        <p:spPr>
          <a:xfrm>
            <a:off x="1295401" y="624110"/>
            <a:ext cx="7239000" cy="1280890"/>
          </a:xfrm>
        </p:spPr>
        <p:txBody>
          <a:bodyPr/>
          <a:lstStyle/>
          <a:p>
            <a:pPr algn="ctr"/>
            <a:r>
              <a:rPr lang="en-IN"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xmlns="" id="{5194BB4E-DCF9-4945-96B5-8B7DAEFEFF87}"/>
              </a:ext>
            </a:extLst>
          </p:cNvPr>
          <p:cNvSpPr>
            <a:spLocks noGrp="1"/>
          </p:cNvSpPr>
          <p:nvPr>
            <p:ph idx="1"/>
          </p:nvPr>
        </p:nvSpPr>
        <p:spPr/>
        <p:txBody>
          <a:bodyPr/>
          <a:lstStyle/>
          <a:p>
            <a:r>
              <a:rPr lang="en-US" dirty="0" smtClean="0"/>
              <a:t>This project further can be developed as Android application to overcome the limitation of accessing the system by only desktop and also suggest them about their stage in chronic kidney diseases.</a:t>
            </a:r>
          </a:p>
          <a:p>
            <a:r>
              <a:rPr lang="en-US" dirty="0" smtClean="0"/>
              <a:t> Suggest the required treatment that to be taken by the person to cure from the chronic kidney disease at that particular stage.</a:t>
            </a:r>
          </a:p>
        </p:txBody>
      </p:sp>
    </p:spTree>
    <p:extLst>
      <p:ext uri="{BB962C8B-B14F-4D97-AF65-F5344CB8AC3E}">
        <p14:creationId xmlns:p14="http://schemas.microsoft.com/office/powerpoint/2010/main" xmlns="" val="31772934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81000"/>
            <a:ext cx="7772400" cy="731838"/>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914400" y="1143000"/>
            <a:ext cx="7772400" cy="5105400"/>
          </a:xfrm>
        </p:spPr>
        <p:txBody>
          <a:bodyPr>
            <a:normAutofit fontScale="77500" lnSpcReduction="20000"/>
          </a:bodyPr>
          <a:lstStyle/>
          <a:p>
            <a:pPr lvl="0" algn="just"/>
            <a:r>
              <a:rPr lang="en-IN" dirty="0">
                <a:latin typeface="Times New Roman" panose="02020603050405020304" pitchFamily="18" charset="0"/>
                <a:cs typeface="Times New Roman" panose="02020603050405020304" pitchFamily="18" charset="0"/>
              </a:rPr>
              <a:t>[1] M. Chen, Y. Hao, K. Hwang, L. Wang, and L. </a:t>
            </a:r>
            <a:r>
              <a:rPr lang="en-IN" dirty="0" err="1">
                <a:latin typeface="Times New Roman" panose="02020603050405020304" pitchFamily="18" charset="0"/>
                <a:cs typeface="Times New Roman" panose="02020603050405020304" pitchFamily="18" charset="0"/>
              </a:rPr>
              <a:t>Wang,“Disease</a:t>
            </a:r>
            <a:r>
              <a:rPr lang="en-IN" dirty="0">
                <a:latin typeface="Times New Roman" panose="02020603050405020304" pitchFamily="18" charset="0"/>
                <a:cs typeface="Times New Roman" panose="02020603050405020304" pitchFamily="18" charset="0"/>
              </a:rPr>
              <a:t> prediction by machine learning over big data from healthcare communities”, ,” IEEE Access, vol. 5, no. 1, pp. 8869–8879, 2017.</a:t>
            </a:r>
          </a:p>
          <a:p>
            <a:pPr lvl="0" algn="just"/>
            <a:r>
              <a:rPr lang="en-IN" dirty="0">
                <a:latin typeface="Times New Roman" panose="02020603050405020304" pitchFamily="18" charset="0"/>
                <a:cs typeface="Times New Roman" panose="02020603050405020304" pitchFamily="18" charset="0"/>
              </a:rPr>
              <a:t> [2] B. Qian, X. Wang, N. Cao, H. Li, and Y.-G. Jiang, “A relative similarity based method for interactive patient risk prediction,” Springer Data Mining </a:t>
            </a:r>
            <a:r>
              <a:rPr lang="en-IN" dirty="0" err="1">
                <a:latin typeface="Times New Roman" panose="02020603050405020304" pitchFamily="18" charset="0"/>
                <a:cs typeface="Times New Roman" panose="02020603050405020304" pitchFamily="18" charset="0"/>
              </a:rPr>
              <a:t>Knowl</a:t>
            </a:r>
            <a:r>
              <a:rPr lang="en-IN" dirty="0">
                <a:latin typeface="Times New Roman" panose="02020603050405020304" pitchFamily="18" charset="0"/>
                <a:cs typeface="Times New Roman" panose="02020603050405020304" pitchFamily="18" charset="0"/>
              </a:rPr>
              <a:t>. Discovery, vol. 29, no. 4, pp. 1070–1093, 2015. </a:t>
            </a:r>
          </a:p>
          <a:p>
            <a:pPr lvl="0" algn="just"/>
            <a:r>
              <a:rPr lang="en-IN" dirty="0">
                <a:latin typeface="Times New Roman" panose="02020603050405020304" pitchFamily="18" charset="0"/>
                <a:cs typeface="Times New Roman" panose="02020603050405020304" pitchFamily="18" charset="0"/>
              </a:rPr>
              <a:t>[3] IM. Chen, Y. Ma, Y. Li, D. Wu, Y. Zhang, and C. </a:t>
            </a:r>
            <a:r>
              <a:rPr lang="en-IN" dirty="0" err="1">
                <a:latin typeface="Times New Roman" panose="02020603050405020304" pitchFamily="18" charset="0"/>
                <a:cs typeface="Times New Roman" panose="02020603050405020304" pitchFamily="18" charset="0"/>
              </a:rPr>
              <a:t>Youn</a:t>
            </a:r>
            <a:r>
              <a:rPr lang="en-IN" dirty="0">
                <a:latin typeface="Times New Roman" panose="02020603050405020304" pitchFamily="18" charset="0"/>
                <a:cs typeface="Times New Roman" panose="02020603050405020304" pitchFamily="18" charset="0"/>
              </a:rPr>
              <a:t>, “ Wearable 2.0: Enable human-cloud integration in next generation healthcare system,” IEEE </a:t>
            </a:r>
            <a:r>
              <a:rPr lang="en-IN" dirty="0" err="1">
                <a:latin typeface="Times New Roman" panose="02020603050405020304" pitchFamily="18" charset="0"/>
                <a:cs typeface="Times New Roman" panose="02020603050405020304" pitchFamily="18" charset="0"/>
              </a:rPr>
              <a:t>Commun</a:t>
            </a:r>
            <a:r>
              <a:rPr lang="en-IN" dirty="0">
                <a:latin typeface="Times New Roman" panose="02020603050405020304" pitchFamily="18" charset="0"/>
                <a:cs typeface="Times New Roman" panose="02020603050405020304" pitchFamily="18" charset="0"/>
              </a:rPr>
              <a:t>. , vol. 55, no. 1, pp. 54–61, Jan. 2017. </a:t>
            </a:r>
          </a:p>
          <a:p>
            <a:pPr lvl="0" algn="just"/>
            <a:r>
              <a:rPr lang="en-IN" dirty="0">
                <a:latin typeface="Times New Roman" panose="02020603050405020304" pitchFamily="18" charset="0"/>
                <a:cs typeface="Times New Roman" panose="02020603050405020304" pitchFamily="18" charset="0"/>
              </a:rPr>
              <a:t>[4] Y. Zhang, M. </a:t>
            </a:r>
            <a:r>
              <a:rPr lang="en-IN" dirty="0" err="1">
                <a:latin typeface="Times New Roman" panose="02020603050405020304" pitchFamily="18" charset="0"/>
                <a:cs typeface="Times New Roman" panose="02020603050405020304" pitchFamily="18" charset="0"/>
              </a:rPr>
              <a:t>Qiu</a:t>
            </a:r>
            <a:r>
              <a:rPr lang="en-IN" dirty="0">
                <a:latin typeface="Times New Roman" panose="02020603050405020304" pitchFamily="18" charset="0"/>
                <a:cs typeface="Times New Roman" panose="02020603050405020304" pitchFamily="18" charset="0"/>
              </a:rPr>
              <a:t>, C.-W. Tsai, M. M. Hassan, and A. </a:t>
            </a:r>
            <a:r>
              <a:rPr lang="en-IN" dirty="0" err="1">
                <a:latin typeface="Times New Roman" panose="02020603050405020304" pitchFamily="18" charset="0"/>
                <a:cs typeface="Times New Roman" panose="02020603050405020304" pitchFamily="18" charset="0"/>
              </a:rPr>
              <a:t>Alamri</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HealthCPS</a:t>
            </a:r>
            <a:r>
              <a:rPr lang="en-IN" dirty="0">
                <a:latin typeface="Times New Roman" panose="02020603050405020304" pitchFamily="18" charset="0"/>
                <a:cs typeface="Times New Roman" panose="02020603050405020304" pitchFamily="18" charset="0"/>
              </a:rPr>
              <a:t>: Healthcare </a:t>
            </a:r>
            <a:r>
              <a:rPr lang="en-IN" dirty="0" err="1">
                <a:latin typeface="Times New Roman" panose="02020603050405020304" pitchFamily="18" charset="0"/>
                <a:cs typeface="Times New Roman" panose="02020603050405020304" pitchFamily="18" charset="0"/>
              </a:rPr>
              <a:t>cyberphysical</a:t>
            </a:r>
            <a:r>
              <a:rPr lang="en-IN" dirty="0">
                <a:latin typeface="Times New Roman" panose="02020603050405020304" pitchFamily="18" charset="0"/>
                <a:cs typeface="Times New Roman" panose="02020603050405020304" pitchFamily="18" charset="0"/>
              </a:rPr>
              <a:t> system assisted by cloud and big data,” IEEE Syst. J., vol. 11, no. 1, pp. 88–95, Mar. 2017. </a:t>
            </a:r>
          </a:p>
          <a:p>
            <a:pPr lvl="0" algn="just"/>
            <a:r>
              <a:rPr lang="en-IN" dirty="0">
                <a:latin typeface="Times New Roman" panose="02020603050405020304" pitchFamily="18" charset="0"/>
                <a:cs typeface="Times New Roman" panose="02020603050405020304" pitchFamily="18" charset="0"/>
              </a:rPr>
              <a:t>[5] L. </a:t>
            </a:r>
            <a:r>
              <a:rPr lang="en-IN" dirty="0" err="1">
                <a:latin typeface="Times New Roman" panose="02020603050405020304" pitchFamily="18" charset="0"/>
                <a:cs typeface="Times New Roman" panose="02020603050405020304" pitchFamily="18" charset="0"/>
              </a:rPr>
              <a:t>Qiu</a:t>
            </a:r>
            <a:r>
              <a:rPr lang="en-IN" dirty="0">
                <a:latin typeface="Times New Roman" panose="02020603050405020304" pitchFamily="18" charset="0"/>
                <a:cs typeface="Times New Roman" panose="02020603050405020304" pitchFamily="18" charset="0"/>
              </a:rPr>
              <a:t>, K. Gai, and M. </a:t>
            </a:r>
            <a:r>
              <a:rPr lang="en-IN" dirty="0" err="1">
                <a:latin typeface="Times New Roman" panose="02020603050405020304" pitchFamily="18" charset="0"/>
                <a:cs typeface="Times New Roman" panose="02020603050405020304" pitchFamily="18" charset="0"/>
              </a:rPr>
              <a:t>Qiu</a:t>
            </a:r>
            <a:r>
              <a:rPr lang="en-IN" dirty="0">
                <a:latin typeface="Times New Roman" panose="02020603050405020304" pitchFamily="18" charset="0"/>
                <a:cs typeface="Times New Roman" panose="02020603050405020304" pitchFamily="18" charset="0"/>
              </a:rPr>
              <a:t>, “Optimal big data sharing approach for telehealth in cloud computing,” in Proc. IEEE Int. Conf. Smart Cloud (Smart Cloud), Nov. 2016, pp. 184– 189. </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rot="9217959">
            <a:off x="2299924" y="3608254"/>
            <a:ext cx="4941234" cy="20599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Oval 11"/>
          <p:cNvSpPr/>
          <p:nvPr/>
        </p:nvSpPr>
        <p:spPr>
          <a:xfrm>
            <a:off x="3962400" y="4038600"/>
            <a:ext cx="304800" cy="1524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146" name="Picture 2" descr="Thank You Blank Card Stock Illustration - Download Image ..."/>
          <p:cNvPicPr>
            <a:picLocks noChangeAspect="1" noChangeArrowheads="1"/>
          </p:cNvPicPr>
          <p:nvPr/>
        </p:nvPicPr>
        <p:blipFill>
          <a:blip r:embed="rId2" cstate="print"/>
          <a:srcRect/>
          <a:stretch>
            <a:fillRect/>
          </a:stretch>
        </p:blipFill>
        <p:spPr bwMode="auto">
          <a:xfrm>
            <a:off x="0" y="1080305"/>
            <a:ext cx="9144000" cy="5777695"/>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780</TotalTime>
  <Words>1460</Words>
  <Application>Microsoft Office PowerPoint</Application>
  <PresentationFormat>On-screen Show (4:3)</PresentationFormat>
  <Paragraphs>171</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Flow</vt:lpstr>
      <vt:lpstr> PREDICTION OF CHRONIC KIDNEY DISEASE</vt:lpstr>
      <vt:lpstr>Contents:</vt:lpstr>
      <vt:lpstr>Abstract</vt:lpstr>
      <vt:lpstr>Introduction</vt:lpstr>
      <vt:lpstr>Increased growth of Chronic Kidney Disease</vt:lpstr>
      <vt:lpstr>Introduction(Contd…)</vt:lpstr>
      <vt:lpstr>DATASET</vt:lpstr>
      <vt:lpstr>DATASET</vt:lpstr>
      <vt:lpstr>DATASET</vt:lpstr>
      <vt:lpstr>Heat Map showing the correlation of the attributes</vt:lpstr>
      <vt:lpstr>Chronic kidney disease Modeling(Contd…)</vt:lpstr>
      <vt:lpstr>Algorithms used:</vt:lpstr>
      <vt:lpstr>Algorithms used(Contd...)</vt:lpstr>
      <vt:lpstr>Algorithms used(Contd...)</vt:lpstr>
      <vt:lpstr>Algorithms used(Contd...)</vt:lpstr>
      <vt:lpstr>Algorithm Description</vt:lpstr>
      <vt:lpstr>Random Forest Classifier working</vt:lpstr>
      <vt:lpstr>Comparison using graph:</vt:lpstr>
      <vt:lpstr>OUTPUT SCREEN</vt:lpstr>
      <vt:lpstr>OUTPUT SCREEN</vt:lpstr>
      <vt:lpstr>OUTPUT SCREEN</vt:lpstr>
      <vt:lpstr>OUTPUT SCREEN</vt:lpstr>
      <vt:lpstr>OUTPUT SCREEN</vt:lpstr>
      <vt:lpstr>OUTPUT SCREEN</vt:lpstr>
      <vt:lpstr>CONCLUSION</vt:lpstr>
      <vt:lpstr>FUTURE SCOPE</vt:lpstr>
      <vt:lpstr>References</vt:lpstr>
      <vt:lpstr>Slide 28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Enhanced BioMedical Data Modeling using Unsupervised Probabilistic Machine Learning Technique</dc:title>
  <dc:creator>Rizwana-Shaik</dc:creator>
  <cp:lastModifiedBy>sai kumar</cp:lastModifiedBy>
  <cp:revision>132</cp:revision>
  <dcterms:created xsi:type="dcterms:W3CDTF">2018-12-26T15:40:08Z</dcterms:created>
  <dcterms:modified xsi:type="dcterms:W3CDTF">2021-08-09T09:40:09Z</dcterms:modified>
</cp:coreProperties>
</file>